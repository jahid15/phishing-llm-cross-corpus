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seconds. Just introduce the team and the title. Do not explain motivation - the teacher asked for technical content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seconds. Keep it purely technical. Input, model, output. Then the three families. Then say all the datasets are free and public - that is why this project fits our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50 seconds. Walk the table quickly - the point is that all the numbers look the same, 97 to 99. Then land hard on the red box: all of it is one dataset at a time. The last row, Phishsense, is the clue - the moment someone tested on a second dataset it fell from 97.5 to 70.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seconds. Say clearly: a technique from before deep learning ties GPT-4. End on the question and PAUSE. Do not answer it - hand the tension to slide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50 seconds. THIS IS THE INTERACTIVE MOMENT. Actually stop and take one or two guesses. If nobody answers, say 'higher or lower than 0.9?'. Then reveal 0.304. Say it slowly: zero point three zero four. Then the punchline about accuracy hiding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55 seconds. This is our strongest original result. Emphasise the 48 versus 4,282 - that is the part that is genuinely new. Anyone deduplicating the normal way would conclude these corpora are clean.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seconds. Optional show of hands: 'who thinks the 12B model beats the 3B?' then reveal that it is worse. Land on the blue box - the small model is the robust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seconds. Do not read all six word for word. Read the bold titles, and add one sentence only on number 4 and number 5 - those are the new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50 seconds. This is the main visual. Walk left to right once. Spend your time on stage 2 and stage 5 - those are the two nobody else does. Mention the ethics point at the end: we do not create phishing emails.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seconds. Show the empty table, say the question marks are the project. Deliver the closing line slowly and stop. Do not add anything after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6B4A"/>
                </a:solidFill>
                <a:latin typeface="Calibri"/>
              </a:rPr>
              <a:t>COMPUTER SECURITY  ·  PROJECT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600" b="1" i="0">
                <a:solidFill>
                  <a:srgbClr val="F5F7FA"/>
                </a:solidFill>
                <a:latin typeface="Calibri"/>
              </a:rPr>
              <a:t>Phishing Email Detection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600" b="1" i="0">
                <a:solidFill>
                  <a:srgbClr val="F5F7FA"/>
                </a:solidFill>
                <a:latin typeface="Calibri"/>
              </a:rPr>
              <a:t>Using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2044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60A5FA"/>
                </a:solidFill>
                <a:latin typeface="Calibri"/>
              </a:rPr>
              <a:t>Cost-Aware Benchmarking of Small Open LLMs for Cross-Corpus Detection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343400"/>
            <a:ext cx="4572000" cy="2743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4617720"/>
            <a:ext cx="5943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600" b="0" i="0">
                <a:solidFill>
                  <a:srgbClr val="94A3B8"/>
                </a:solidFill>
                <a:latin typeface="Calibri"/>
              </a:rPr>
              <a:t>Jahid Ibna Sinha (011221376)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600" b="0" i="0">
                <a:solidFill>
                  <a:srgbClr val="94A3B8"/>
                </a:solidFill>
                <a:latin typeface="Calibri"/>
              </a:rPr>
              <a:t>Md. Jakaria Alam Saimon (011221002)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600" b="0" i="0">
                <a:solidFill>
                  <a:srgbClr val="94A3B8"/>
                </a:solidFill>
                <a:latin typeface="Calibri"/>
              </a:rPr>
              <a:t>Nowshin Anjum Faria (011221372)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461772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5F7FA"/>
                </a:solidFill>
                <a:latin typeface="Calibri"/>
              </a:rPr>
              <a:t>United International University</a:t>
            </a:r>
          </a:p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</a:rPr>
              <a:t>Group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F6B4A"/>
                </a:solidFill>
                <a:latin typeface="Calibri"/>
              </a:rPr>
              <a:t>1. THE TOPIC, TECHNICALLY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5F7FA"/>
                </a:solidFill>
                <a:latin typeface="Calibri"/>
              </a:rPr>
              <a:t>It is a binary text classification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4114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Sinha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200400" cy="1371600"/>
          </a:xfrm>
          <a:prstGeom prst="roundRect">
            <a:avLst/>
          </a:prstGeom>
          <a:solidFill>
            <a:srgbClr val="1B2335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60A5FA"/>
                </a:solidFill>
                <a:latin typeface="Calibri"/>
              </a:rPr>
              <a:t>INPUT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F5F7FA"/>
                </a:solidFill>
                <a:latin typeface="Calibri"/>
              </a:rPr>
              <a:t>Raw email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subject + body text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69080" y="2377440"/>
            <a:ext cx="384048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09160" y="1828800"/>
            <a:ext cx="2743200" cy="1371600"/>
          </a:xfrm>
          <a:prstGeom prst="roundRect">
            <a:avLst/>
          </a:prstGeom>
          <a:solidFill>
            <a:srgbClr val="1B2335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937760" y="214884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94A3B8"/>
                </a:solidFill>
                <a:latin typeface="Calibri"/>
              </a:rPr>
              <a:t>MODEL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F5F7FA"/>
                </a:solidFill>
                <a:latin typeface="Calibri"/>
              </a:rPr>
              <a:t>Classifier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680960" y="2377440"/>
            <a:ext cx="384048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21040" y="1828800"/>
            <a:ext cx="3200400" cy="1371600"/>
          </a:xfrm>
          <a:prstGeom prst="roundRect">
            <a:avLst/>
          </a:prstGeom>
          <a:solidFill>
            <a:srgbClr val="1B2335"/>
          </a:solidFill>
          <a:ln w="1905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549640" y="205740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F6B4A"/>
                </a:solidFill>
                <a:latin typeface="Calibri"/>
              </a:rPr>
              <a:t>OUTPUT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5F7FA"/>
                </a:solidFill>
                <a:latin typeface="Calibri"/>
              </a:rPr>
              <a:t>Phishing / Legitimate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one label per email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118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5F7FA"/>
                </a:solidFill>
                <a:latin typeface="Calibri"/>
              </a:rPr>
              <a:t>Three model families do this today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14800"/>
            <a:ext cx="3429000" cy="1143000"/>
          </a:xfrm>
          <a:prstGeom prst="roundRect">
            <a:avLst/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8680" y="4315968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94A3B8"/>
                </a:solidFill>
                <a:latin typeface="Calibri"/>
              </a:rPr>
              <a:t>Classical ML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TF-IDF features + Logistic Regression / Naive Bayes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4114800"/>
            <a:ext cx="3429000" cy="1143000"/>
          </a:xfrm>
          <a:prstGeom prst="roundRect">
            <a:avLst/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26280" y="4315968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60A5FA"/>
                </a:solidFill>
                <a:latin typeface="Calibri"/>
              </a:rPr>
              <a:t>Fine-tuned encoders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BERT, RoBERTa, DistilBERT trained on labelled email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4114800"/>
            <a:ext cx="3429000" cy="1143000"/>
          </a:xfrm>
          <a:prstGeom prst="roundRect">
            <a:avLst/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83879" y="4315968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F6B4A"/>
                </a:solidFill>
                <a:latin typeface="Calibri"/>
              </a:rPr>
              <a:t>Decoder LLMs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prompted zero-shot / few-shot, or LoRA fine-tuned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</a:rPr>
              <a:t>Public corpora everyone uses:  SpamAssassin · CEAS-08 · Nazario · Enron · Nigerian Fraud · Ling-Spam · TREC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F6B4A"/>
                </a:solidFill>
                <a:latin typeface="Calibri"/>
              </a:rPr>
              <a:t>2. STATE OF THE 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5F7FA"/>
                </a:solidFill>
                <a:latin typeface="Calibri"/>
              </a:rPr>
              <a:t>2022 to 2026:  everybody reports 97 to 99%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4114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Sinha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83080"/>
          <a:ext cx="10881359" cy="301751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65486"/>
                <a:gridCol w="5539601"/>
                <a:gridCol w="2176272"/>
              </a:tblGrid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60A5FA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 marL="73152" marR="73152" marT="27432" marB="27432" anchor="ctr"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60A5FA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marL="73152" marR="73152" marT="27432" marB="27432" anchor="ctr"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60A5FA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73152" marR="73152" marT="27432" marB="27432" anchor="ctr">
                    <a:solidFill>
                      <a:srgbClr val="0F1420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F5F7FA"/>
                          </a:solidFill>
                          <a:latin typeface="Calibri"/>
                        </a:rPr>
                        <a:t>Koide et al. 2024</a:t>
                      </a:r>
                    </a:p>
                  </a:txBody>
                  <a:tcPr marL="73152" marR="73152" marT="27432" marB="27432" anchor="ctr">
                    <a:solidFill>
                      <a:srgbClr val="1B23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5F7FA"/>
                          </a:solidFill>
                          <a:latin typeface="Calibri"/>
                        </a:rPr>
                        <a:t>GPT-4 + chain-of-thought prompt</a:t>
                      </a:r>
                    </a:p>
                  </a:txBody>
                  <a:tcPr marL="73152" marR="73152" marT="27432" marB="27432" anchor="ctr">
                    <a:solidFill>
                      <a:srgbClr val="1B23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5F7FA"/>
                          </a:solidFill>
                          <a:latin typeface="Calibri"/>
                        </a:rPr>
                        <a:t>99.70%</a:t>
                      </a:r>
                    </a:p>
                  </a:txBody>
                  <a:tcPr marL="73152" marR="73152" marT="27432" marB="27432" anchor="ctr">
                    <a:solidFill>
                      <a:srgbClr val="1B2335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F5F7FA"/>
                          </a:solidFill>
                          <a:latin typeface="Calibri"/>
                        </a:rPr>
                        <a:t>Uddin et al. 2024</a:t>
                      </a:r>
                    </a:p>
                  </a:txBody>
                  <a:tcPr marL="73152" marR="73152" marT="27432" marB="27432" anchor="ctr"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5F7FA"/>
                          </a:solidFill>
                          <a:latin typeface="Calibri"/>
                        </a:rPr>
                        <a:t>Fine-tuned RoBERTa + explainability</a:t>
                      </a:r>
                    </a:p>
                  </a:txBody>
                  <a:tcPr marL="73152" marR="73152" marT="27432" marB="27432" anchor="ctr"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5F7FA"/>
                          </a:solidFill>
                          <a:latin typeface="Calibri"/>
                        </a:rPr>
                        <a:t>98.45%</a:t>
                      </a:r>
                    </a:p>
                  </a:txBody>
                  <a:tcPr marL="73152" marR="73152" marT="27432" marB="27432" anchor="ctr">
                    <a:solidFill>
                      <a:srgbClr val="0F1420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F5F7FA"/>
                          </a:solidFill>
                          <a:latin typeface="Calibri"/>
                        </a:rPr>
                        <a:t>Alhuzali et al. 2025</a:t>
                      </a:r>
                    </a:p>
                  </a:txBody>
                  <a:tcPr marL="73152" marR="73152" marT="27432" marB="27432" anchor="ctr">
                    <a:solidFill>
                      <a:srgbClr val="1B23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5F7FA"/>
                          </a:solidFill>
                          <a:latin typeface="Calibri"/>
                        </a:rPr>
                        <a:t>14 models across 10 datasets</a:t>
                      </a:r>
                    </a:p>
                  </a:txBody>
                  <a:tcPr marL="73152" marR="73152" marT="27432" marB="27432" anchor="ctr">
                    <a:solidFill>
                      <a:srgbClr val="1B23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5F7FA"/>
                          </a:solidFill>
                          <a:latin typeface="Calibri"/>
                        </a:rPr>
                        <a:t>99.08%</a:t>
                      </a:r>
                    </a:p>
                  </a:txBody>
                  <a:tcPr marL="73152" marR="73152" marT="27432" marB="27432" anchor="ctr">
                    <a:solidFill>
                      <a:srgbClr val="1B2335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F5F7FA"/>
                          </a:solidFill>
                          <a:latin typeface="Calibri"/>
                        </a:rPr>
                        <a:t>Lin et al. 2025</a:t>
                      </a:r>
                    </a:p>
                  </a:txBody>
                  <a:tcPr marL="73152" marR="73152" marT="27432" marB="27432" anchor="ctr"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5F7FA"/>
                          </a:solidFill>
                          <a:latin typeface="Calibri"/>
                        </a:rPr>
                        <a:t>3B small LLMs + LoRA fine-tuning</a:t>
                      </a:r>
                    </a:p>
                  </a:txBody>
                  <a:tcPr marL="73152" marR="73152" marT="27432" marB="27432" anchor="ctr"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5F7FA"/>
                          </a:solidFill>
                          <a:latin typeface="Calibri"/>
                        </a:rPr>
                        <a:t>0.59 → 0.96</a:t>
                      </a:r>
                    </a:p>
                  </a:txBody>
                  <a:tcPr marL="73152" marR="73152" marT="27432" marB="27432" anchor="ctr">
                    <a:solidFill>
                      <a:srgbClr val="0F1420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F5F7FA"/>
                          </a:solidFill>
                          <a:latin typeface="Calibri"/>
                        </a:rPr>
                        <a:t>MultiPhishGuard 2025</a:t>
                      </a:r>
                    </a:p>
                  </a:txBody>
                  <a:tcPr marL="73152" marR="73152" marT="27432" marB="27432" anchor="ctr">
                    <a:solidFill>
                      <a:srgbClr val="1B23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5F7FA"/>
                          </a:solidFill>
                          <a:latin typeface="Calibri"/>
                        </a:rPr>
                        <a:t>5 cooperative LLM agents</a:t>
                      </a:r>
                    </a:p>
                  </a:txBody>
                  <a:tcPr marL="73152" marR="73152" marT="27432" marB="27432" anchor="ctr">
                    <a:solidFill>
                      <a:srgbClr val="1B23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5F7FA"/>
                          </a:solidFill>
                          <a:latin typeface="Calibri"/>
                        </a:rPr>
                        <a:t>97.89%</a:t>
                      </a:r>
                    </a:p>
                  </a:txBody>
                  <a:tcPr marL="73152" marR="73152" marT="27432" marB="27432" anchor="ctr">
                    <a:solidFill>
                      <a:srgbClr val="1B2335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6B4A"/>
                          </a:solidFill>
                          <a:latin typeface="Calibri"/>
                        </a:rPr>
                        <a:t>Blake 2025 (Phishsense-1B)</a:t>
                      </a:r>
                    </a:p>
                  </a:txBody>
                  <a:tcPr marL="73152" marR="73152" marT="27432" marB="27432" anchor="ctr"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6B4A"/>
                          </a:solidFill>
                          <a:latin typeface="Calibri"/>
                        </a:rPr>
                        <a:t>1B open model, phishing-specific</a:t>
                      </a:r>
                    </a:p>
                  </a:txBody>
                  <a:tcPr marL="73152" marR="73152" marT="27432" marB="27432" anchor="ctr"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6B4A"/>
                          </a:solidFill>
                          <a:latin typeface="Calibri"/>
                        </a:rPr>
                        <a:t>97.5% → 70%</a:t>
                      </a:r>
                    </a:p>
                  </a:txBody>
                  <a:tcPr marL="73152" marR="73152" marT="27432" marB="27432" anchor="ctr">
                    <a:solidFill>
                      <a:srgbClr val="0F1420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074920"/>
            <a:ext cx="10881360" cy="1005840"/>
          </a:xfrm>
          <a:prstGeom prst="roundRect">
            <a:avLst/>
          </a:prstGeom>
          <a:solidFill>
            <a:srgbClr val="1B2335"/>
          </a:solidFill>
          <a:ln w="1905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20" y="5285232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1" i="0">
                <a:solidFill>
                  <a:srgbClr val="FF6B4A"/>
                </a:solidFill>
                <a:latin typeface="Calibri"/>
              </a:rPr>
              <a:t>Every number above is measured on ONE dataset at a time.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94A3B8"/>
                </a:solidFill>
                <a:latin typeface="Calibri"/>
              </a:rPr>
              <a:t>The one row that tested a second dataset lost 27 points.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F6B4A"/>
                </a:solidFill>
                <a:latin typeface="Calibri"/>
              </a:rPr>
              <a:t>3. WE TESTED IT OURSELVES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5F7FA"/>
                </a:solidFill>
                <a:latin typeface="Calibri"/>
              </a:rPr>
              <a:t>First we reproduced the good news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4114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Saimon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429000" cy="1828800"/>
          </a:xfrm>
          <a:prstGeom prst="roundRect">
            <a:avLst/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5F7FA"/>
                </a:solidFill>
                <a:latin typeface="Calibri"/>
              </a:rPr>
              <a:t>Kaggle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17,505 emails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4ADE80"/>
                </a:solidFill>
                <a:latin typeface="Calibri"/>
              </a:rPr>
              <a:t>97.9%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920240"/>
            <a:ext cx="3429000" cy="1828800"/>
          </a:xfrm>
          <a:prstGeom prst="roundRect">
            <a:avLst/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72000" y="2148840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5F7FA"/>
                </a:solidFill>
                <a:latin typeface="Calibri"/>
              </a:rPr>
              <a:t>SpamAssassin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5,809 emails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4ADE80"/>
                </a:solidFill>
                <a:latin typeface="Calibri"/>
              </a:rPr>
              <a:t>97.3%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920240"/>
            <a:ext cx="3429000" cy="1828800"/>
          </a:xfrm>
          <a:prstGeom prst="roundRect">
            <a:avLst/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0" y="2148840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5F7FA"/>
                </a:solidFill>
                <a:latin typeface="Calibri"/>
              </a:rPr>
              <a:t>Nazario + Enron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3,128 emails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4ADE80"/>
                </a:solidFill>
                <a:latin typeface="Calibri"/>
              </a:rPr>
              <a:t>99.2%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6908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F5F7FA"/>
                </a:solidFill>
                <a:latin typeface="Calibri"/>
              </a:rPr>
              <a:t>TF-IDF + Logistic Regression. No LLM. No GPU. No training data beyond the corpus itself.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94A3B8"/>
                </a:solidFill>
                <a:latin typeface="Calibri"/>
              </a:rPr>
              <a:t>Exactly the same 97 to 99% band as GPT-4 and RoBERTa.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120640"/>
            <a:ext cx="10881360" cy="914400"/>
          </a:xfrm>
          <a:prstGeom prst="roundRect">
            <a:avLst/>
          </a:prstGeom>
          <a:solidFill>
            <a:srgbClr val="1B2335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0120" y="534924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 i="0">
                <a:solidFill>
                  <a:srgbClr val="FBBF24"/>
                </a:solidFill>
                <a:latin typeface="Calibri"/>
              </a:rPr>
              <a:t>So phishing detection is solved… right?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F6B4A"/>
                </a:solidFill>
                <a:latin typeface="Calibri"/>
              </a:rPr>
              <a:t>4. GAP 1  ·  THE COLLAPSE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5F7FA"/>
                </a:solidFill>
                <a:latin typeface="Calibri"/>
              </a:rPr>
              <a:t>Train on one corpus. Test on another.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4114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Saimon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777240"/>
          </a:xfrm>
          <a:prstGeom prst="roundRect">
            <a:avLst/>
          </a:prstGeom>
          <a:solidFill>
            <a:srgbClr val="1B2335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BBF24"/>
                </a:solidFill>
                <a:latin typeface="Calibri"/>
              </a:rPr>
              <a:t>ASK THE AUDIENCE:  F1 was 0.992 on its own corpus. What is it on a new corpus?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34640"/>
            <a:ext cx="5120640" cy="2103120"/>
          </a:xfrm>
          <a:prstGeom prst="roundRect">
            <a:avLst/>
          </a:prstGeom>
          <a:solidFill>
            <a:srgbClr val="1B2335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46634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4ADE80"/>
                </a:solidFill>
                <a:latin typeface="Calibri"/>
              </a:rPr>
              <a:t>SAME CORPUS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600" b="1" i="0">
                <a:solidFill>
                  <a:srgbClr val="4ADE80"/>
                </a:solidFill>
                <a:latin typeface="Calibri"/>
              </a:rPr>
              <a:t>0.992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F1 score, looks excellent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43600" y="3703320"/>
            <a:ext cx="502920" cy="365760"/>
          </a:xfrm>
          <a:prstGeom prst="rightArrow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0" y="2834640"/>
            <a:ext cx="4846320" cy="2103120"/>
          </a:xfrm>
          <a:prstGeom prst="roundRect">
            <a:avLst/>
          </a:prstGeom>
          <a:solidFill>
            <a:srgbClr val="1B2335"/>
          </a:solidFill>
          <a:ln w="1905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903720" y="3108960"/>
            <a:ext cx="43891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F6B4A"/>
                </a:solidFill>
                <a:latin typeface="Calibri"/>
              </a:rPr>
              <a:t>UNSEEN CORPUS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600" b="1" i="0">
                <a:solidFill>
                  <a:srgbClr val="FF6B4A"/>
                </a:solidFill>
                <a:latin typeface="Calibri"/>
              </a:rPr>
              <a:t>0.304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the same model, new emails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F5F7FA"/>
                </a:solidFill>
                <a:latin typeface="Calibri"/>
              </a:rPr>
              <a:t>The model answers “legitimate” to almost every phishing email it has not seen before.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94A3B8"/>
                </a:solidFill>
                <a:latin typeface="Calibri"/>
              </a:rPr>
              <a:t>Accuracy only drops to 0.69, so an accuracy-only report hides this completely.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F6B4A"/>
                </a:solidFill>
                <a:latin typeface="Calibri"/>
              </a:rPr>
              <a:t>5. GAP 2  ·  THE CONTAMINATION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5F7FA"/>
                </a:solidFill>
                <a:latin typeface="Calibri"/>
              </a:rPr>
              <a:t>One transfer looked great. It was cheating.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4114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Saimon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94A3B8"/>
                </a:solidFill>
                <a:latin typeface="Calibri"/>
              </a:rPr>
              <a:t>Kaggle → SpamAssassin scored F1 0.97. Suspicious. So we hashed every email body.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5394960" cy="1691640"/>
          </a:xfrm>
          <a:prstGeom prst="roundRect">
            <a:avLst/>
          </a:prstGeom>
          <a:solidFill>
            <a:srgbClr val="1B2335"/>
          </a:solidFill>
          <a:ln w="1905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2450592"/>
            <a:ext cx="49377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000" b="1" i="0">
                <a:solidFill>
                  <a:srgbClr val="FF6B4A"/>
                </a:solidFill>
                <a:latin typeface="Calibri"/>
              </a:rPr>
              <a:t>74.4%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F5F7FA"/>
                </a:solidFill>
                <a:latin typeface="Calibri"/>
              </a:rPr>
              <a:t>of SpamAssassin sits inside the Kaggle set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4,282 near-duplicate emails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240280"/>
            <a:ext cx="5212080" cy="1691640"/>
          </a:xfrm>
          <a:prstGeom prst="roundRect">
            <a:avLst/>
          </a:prstGeom>
          <a:solidFill>
            <a:srgbClr val="1B2335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3680" y="2450592"/>
            <a:ext cx="475488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000" b="1" i="0">
                <a:solidFill>
                  <a:srgbClr val="4ADE80"/>
                </a:solidFill>
                <a:latin typeface="Calibri"/>
              </a:rPr>
              <a:t>0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F5F7FA"/>
                </a:solidFill>
                <a:latin typeface="Calibri"/>
              </a:rPr>
              <a:t>shared emails for the one clean pair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and that is exactly where F1 fell to 0.35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14800"/>
            <a:ext cx="10881360" cy="960120"/>
          </a:xfrm>
          <a:prstGeom prst="roundRect">
            <a:avLst/>
          </a:prstGeom>
          <a:solidFill>
            <a:srgbClr val="1B2335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4279392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BBF24"/>
                </a:solidFill>
                <a:latin typeface="Calibri"/>
              </a:rPr>
              <a:t>Exact-duplicate check found 48.  Near-duplicate check found 4,282.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</a:rPr>
              <a:t>One stripped subject line hid 99% of the contamination. Normal deduplication misses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25780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5F7FA"/>
                </a:solidFill>
                <a:latin typeface="Calibri"/>
              </a:rPr>
              <a:t>That “good transfer” was memorisation, not generalisation.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94A3B8"/>
                </a:solidFill>
                <a:latin typeface="Calibri"/>
              </a:rPr>
              <a:t>No paper in our review measures overlap between the benchmarks it uses.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F6B4A"/>
                </a:solidFill>
                <a:latin typeface="Calibri"/>
              </a:rPr>
              <a:t>6. GAPS 3 &amp;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5F7FA"/>
                </a:solidFill>
                <a:latin typeface="Calibri"/>
              </a:rPr>
              <a:t>Cost is never reported. Bigger is not better.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4114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Faria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394960" cy="2286000"/>
          </a:xfrm>
          <a:prstGeom prst="roundRect">
            <a:avLst/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93776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F6B4A"/>
                </a:solidFill>
                <a:latin typeface="Calibri"/>
              </a:rPr>
              <a:t>GAP 3  ·  COST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200" b="1" i="0">
                <a:solidFill>
                  <a:srgbClr val="4ADE80"/>
                </a:solidFill>
                <a:latin typeface="Calibri"/>
              </a:rPr>
              <a:t>$0.006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500" b="0" i="0">
                <a:solidFill>
                  <a:srgbClr val="F5F7FA"/>
                </a:solidFill>
                <a:latin typeface="Calibri"/>
              </a:rPr>
              <a:t>per 1,000 emails with llama-3.2-3b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Lin et al. list “no cost-benefit analysis”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as their own limitation.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83080"/>
            <a:ext cx="5212080" cy="2286000"/>
          </a:xfrm>
          <a:prstGeom prst="roundRect">
            <a:avLst/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47548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F6B4A"/>
                </a:solidFill>
                <a:latin typeface="Calibri"/>
              </a:rPr>
              <a:t>GAP 4  ·  SIZE ≠ QUALITY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200" b="1" i="0">
                <a:solidFill>
                  <a:srgbClr val="FF6B4A"/>
                </a:solidFill>
                <a:latin typeface="Calibri"/>
              </a:rPr>
              <a:t>0.58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500" b="0" i="0">
                <a:solidFill>
                  <a:srgbClr val="F5F7FA"/>
                </a:solidFill>
                <a:latin typeface="Calibri"/>
              </a:rPr>
              <a:t>precision of the 4× bigger gemma-3-12b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It flags almost every email as phishing.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3× the price, worse results.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97680"/>
            <a:ext cx="10881360" cy="960120"/>
          </a:xfrm>
          <a:prstGeom prst="roundRect">
            <a:avLst/>
          </a:prstGeom>
          <a:solidFill>
            <a:srgbClr val="1B2335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4498848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60A5FA"/>
                </a:solidFill>
                <a:latin typeface="Calibri"/>
              </a:rPr>
              <a:t>The small 3B model held 0.80 to 0.84 on all three corpora. It never collapsed.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</a:rPr>
              <a:t>15 points worse in-corpus, far more robust across corpora, for half a cent.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94A3B8"/>
                </a:solidFill>
                <a:latin typeface="Calibri"/>
              </a:rPr>
              <a:t>Nobody reports accuracy, robustness and cost in the same table, but that is exactly what a deployment decision needs.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F6B4A"/>
                </a:solidFill>
                <a:latin typeface="Calibri"/>
              </a:rPr>
              <a:t>7.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5F7FA"/>
                </a:solidFill>
                <a:latin typeface="Calibri"/>
              </a:rPr>
              <a:t>What we will actually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4114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Faria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03520" cy="1234440"/>
          </a:xfrm>
          <a:prstGeom prst="roundRect">
            <a:avLst/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6112" y="2029968"/>
            <a:ext cx="457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F6B4A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048256"/>
            <a:ext cx="4206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5F7FA"/>
                </a:solidFill>
                <a:latin typeface="Calibri"/>
              </a:rPr>
              <a:t>Decontaminated benchmark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6 independent public corpora, near-duplicate matrix published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1234440"/>
          </a:xfrm>
          <a:prstGeom prst="roundRect">
            <a:avLst/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73952" y="2029968"/>
            <a:ext cx="457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F6B4A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048256"/>
            <a:ext cx="4206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5F7FA"/>
                </a:solidFill>
                <a:latin typeface="Calibri"/>
              </a:rPr>
              <a:t>Leave-one-corpus-out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always tested on a corpus the model has never seen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46120"/>
            <a:ext cx="5303520" cy="1234440"/>
          </a:xfrm>
          <a:prstGeom prst="roundRect">
            <a:avLst/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96112" y="3447288"/>
            <a:ext cx="457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F6B4A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465576"/>
            <a:ext cx="4206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5F7FA"/>
                </a:solidFill>
                <a:latin typeface="Calibri"/>
              </a:rPr>
              <a:t>One protocol, all families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classical · DistilBERT · small open LLMs · Phishsense-1B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246120"/>
            <a:ext cx="5303520" cy="1234440"/>
          </a:xfrm>
          <a:prstGeom prst="roundRect">
            <a:avLst/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73952" y="3447288"/>
            <a:ext cx="457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F6B4A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3465576"/>
            <a:ext cx="4206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5F7FA"/>
                </a:solidFill>
                <a:latin typeface="Calibri"/>
              </a:rPr>
              <a:t>Cost measured in dollars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logged tokens → USD per 1,000 emails, not adjectives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663440"/>
            <a:ext cx="5303520" cy="1234440"/>
          </a:xfrm>
          <a:prstGeom prst="roundRect">
            <a:avLst/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96112" y="4864607"/>
            <a:ext cx="457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F6B4A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882896"/>
            <a:ext cx="4206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5F7FA"/>
                </a:solidFill>
                <a:latin typeface="Calibri"/>
              </a:rPr>
              <a:t>AI-written phishing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public E-PhishLLM corpus as held-out shift test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663440"/>
            <a:ext cx="5303520" cy="1234440"/>
          </a:xfrm>
          <a:prstGeom prst="roundRect">
            <a:avLst/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73952" y="4864607"/>
            <a:ext cx="457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F6B4A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882896"/>
            <a:ext cx="4206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5F7FA"/>
                </a:solidFill>
                <a:latin typeface="Calibri"/>
              </a:rPr>
              <a:t>One honest table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accuracy + robustness + cost, with confidence intervals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60A5FA"/>
                </a:solidFill>
                <a:latin typeface="Calibri"/>
              </a:rPr>
              <a:t>All six run on our own laptops. Total budget: under $2 of the $5 allowance.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F6B4A"/>
                </a:solidFill>
                <a:latin typeface="Calibri"/>
              </a:rPr>
              <a:t>8. PROPOSED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5F7FA"/>
                </a:solidFill>
                <a:latin typeface="Calibri"/>
              </a:rPr>
              <a:t>Six stages, all on a laptop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4114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Faria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1664208" cy="1965960"/>
          </a:xfrm>
          <a:prstGeom prst="roundRect">
            <a:avLst/>
          </a:prstGeom>
          <a:solidFill>
            <a:srgbClr val="1B2335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2121408"/>
            <a:ext cx="1389888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60A5FA"/>
                </a:solidFill>
                <a:latin typeface="Calibri"/>
              </a:rPr>
              <a:t>1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F5F7FA"/>
                </a:solidFill>
                <a:latin typeface="Calibri"/>
              </a:rPr>
              <a:t>COLLECT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6 public corpora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from Zenodo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313432" y="2816352"/>
            <a:ext cx="164592" cy="23774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87168" y="1965960"/>
            <a:ext cx="1664208" cy="1965960"/>
          </a:xfrm>
          <a:prstGeom prst="roundRect">
            <a:avLst/>
          </a:prstGeom>
          <a:solidFill>
            <a:srgbClr val="1B2335"/>
          </a:solidFill>
          <a:ln w="1905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624327" y="2121408"/>
            <a:ext cx="1389888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F6B4A"/>
                </a:solidFill>
                <a:latin typeface="Calibri"/>
              </a:rPr>
              <a:t>2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F5F7FA"/>
                </a:solidFill>
                <a:latin typeface="Calibri"/>
              </a:rPr>
              <a:t>DECONTAMINATE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MinHash + LSH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drop duplicates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60520" y="2816352"/>
            <a:ext cx="164592" cy="23774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34256" y="1965960"/>
            <a:ext cx="1664208" cy="1965960"/>
          </a:xfrm>
          <a:prstGeom prst="roundRect">
            <a:avLst/>
          </a:prstGeom>
          <a:solidFill>
            <a:srgbClr val="1B2335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71416" y="2121408"/>
            <a:ext cx="1389888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60A5FA"/>
                </a:solidFill>
                <a:latin typeface="Calibri"/>
              </a:rPr>
              <a:t>3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F5F7FA"/>
                </a:solidFill>
                <a:latin typeface="Calibri"/>
              </a:rPr>
              <a:t>SPLIT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train on 5,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test on the 6th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07608" y="2816352"/>
            <a:ext cx="164592" cy="23774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81344" y="1965960"/>
            <a:ext cx="1664208" cy="1965960"/>
          </a:xfrm>
          <a:prstGeom prst="roundRect">
            <a:avLst/>
          </a:prstGeom>
          <a:solidFill>
            <a:srgbClr val="1B2335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18504" y="2121408"/>
            <a:ext cx="1389888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60A5FA"/>
                </a:solidFill>
                <a:latin typeface="Calibri"/>
              </a:rPr>
              <a:t>4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F5F7FA"/>
                </a:solidFill>
                <a:latin typeface="Calibri"/>
              </a:rPr>
              <a:t>RUN MODELS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classical, DistilBERT,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small LLMs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54696" y="2816352"/>
            <a:ext cx="164592" cy="23774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28431" y="1965960"/>
            <a:ext cx="1664208" cy="1965960"/>
          </a:xfrm>
          <a:prstGeom prst="roundRect">
            <a:avLst/>
          </a:prstGeom>
          <a:solidFill>
            <a:srgbClr val="1B2335"/>
          </a:solidFill>
          <a:ln w="1905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165592" y="2121408"/>
            <a:ext cx="1389888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F6B4A"/>
                </a:solidFill>
                <a:latin typeface="Calibri"/>
              </a:rPr>
              <a:t>5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F5F7FA"/>
                </a:solidFill>
                <a:latin typeface="Calibri"/>
              </a:rPr>
              <a:t>SHIFT TEST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E-PhishLLM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AI-written phishing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701784" y="2816352"/>
            <a:ext cx="164592" cy="23774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75519" y="1965960"/>
            <a:ext cx="1664208" cy="1965960"/>
          </a:xfrm>
          <a:prstGeom prst="roundRect">
            <a:avLst/>
          </a:prstGeom>
          <a:solidFill>
            <a:srgbClr val="1B2335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012680" y="2121408"/>
            <a:ext cx="1389888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4ADE80"/>
                </a:solidFill>
                <a:latin typeface="Calibri"/>
              </a:rPr>
              <a:t>6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F5F7FA"/>
                </a:solidFill>
                <a:latin typeface="Calibri"/>
              </a:rPr>
              <a:t>REPORT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accuracy, robustness,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cost per 1,000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251960"/>
            <a:ext cx="5394960" cy="1097280"/>
          </a:xfrm>
          <a:prstGeom prst="roundRect">
            <a:avLst/>
          </a:prstGeom>
          <a:solidFill>
            <a:srgbClr val="1B2335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4400" y="4453128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60A5FA"/>
                </a:solidFill>
                <a:latin typeface="Calibri"/>
              </a:rPr>
              <a:t>What makes it honest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Stage 2: no other benchmark removes cross-corpus duplicates first.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251960"/>
            <a:ext cx="5212080" cy="1097280"/>
          </a:xfrm>
          <a:prstGeom prst="roundRect">
            <a:avLst/>
          </a:prstGeom>
          <a:solidFill>
            <a:srgbClr val="1B2335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0" y="4453128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4ADE80"/>
                </a:solidFill>
                <a:latin typeface="Calibri"/>
              </a:rPr>
              <a:t>What makes it cheap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Free datasets, free CPU models, ~$0.006 per 1,000 LLM calls.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</a:rPr>
              <a:t>We do not generate phishing ourselves. We use the published E-PhishLLM corpus. Cheaper, citable, and we create no new attack content.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F6B4A"/>
                </a:solidFill>
                <a:latin typeface="Calibri"/>
              </a:rPr>
              <a:t>9. EXPECTED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5F7FA"/>
                </a:solidFill>
                <a:latin typeface="Calibri"/>
              </a:rPr>
              <a:t>One table that does not exist yet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4114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Faria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83080"/>
          <a:ext cx="10881360" cy="2286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08960"/>
                <a:gridCol w="1920240"/>
                <a:gridCol w="2194560"/>
                <a:gridCol w="192024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60A5FA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73152" marR="73152" marT="27432" marB="27432" anchor="ctr"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60A5FA"/>
                          </a:solidFill>
                          <a:latin typeface="Calibri"/>
                        </a:rPr>
                        <a:t>In-corpus F1</a:t>
                      </a:r>
                    </a:p>
                  </a:txBody>
                  <a:tcPr marL="73152" marR="73152" marT="27432" marB="27432" anchor="ctr"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60A5FA"/>
                          </a:solidFill>
                          <a:latin typeface="Calibri"/>
                        </a:rPr>
                        <a:t>Unseen-corpus F1</a:t>
                      </a:r>
                    </a:p>
                  </a:txBody>
                  <a:tcPr marL="73152" marR="73152" marT="27432" marB="27432" anchor="ctr"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60A5FA"/>
                          </a:solidFill>
                          <a:latin typeface="Calibri"/>
                        </a:rPr>
                        <a:t>AI-phishing F1</a:t>
                      </a:r>
                    </a:p>
                  </a:txBody>
                  <a:tcPr marL="73152" marR="73152" marT="27432" marB="27432" anchor="ctr"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60A5FA"/>
                          </a:solidFill>
                          <a:latin typeface="Calibri"/>
                        </a:rPr>
                        <a:t>$ / 1,000</a:t>
                      </a:r>
                    </a:p>
                  </a:txBody>
                  <a:tcPr marL="73152" marR="73152" marT="27432" marB="27432" anchor="ctr">
                    <a:solidFill>
                      <a:srgbClr val="0F14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F5F7FA"/>
                          </a:solidFill>
                          <a:latin typeface="Calibri"/>
                        </a:rPr>
                        <a:t>TF-IDF + LogReg</a:t>
                      </a:r>
                    </a:p>
                  </a:txBody>
                  <a:tcPr marL="73152" marR="73152" marT="27432" marB="27432" anchor="ctr">
                    <a:solidFill>
                      <a:srgbClr val="1B23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5F7FA"/>
                          </a:solidFill>
                          <a:latin typeface="Calibri"/>
                        </a:rPr>
                        <a:t>0.99</a:t>
                      </a:r>
                    </a:p>
                  </a:txBody>
                  <a:tcPr marL="73152" marR="73152" marT="27432" marB="27432" anchor="ctr">
                    <a:solidFill>
                      <a:srgbClr val="1B23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5F7FA"/>
                          </a:solidFill>
                          <a:latin typeface="Calibri"/>
                        </a:rPr>
                        <a:t>0.30</a:t>
                      </a:r>
                    </a:p>
                  </a:txBody>
                  <a:tcPr marL="73152" marR="73152" marT="27432" marB="27432" anchor="ctr">
                    <a:solidFill>
                      <a:srgbClr val="1B23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5F7FA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marL="73152" marR="73152" marT="27432" marB="27432" anchor="ctr">
                    <a:solidFill>
                      <a:srgbClr val="1B23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5F7FA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73152" marR="73152" marT="27432" marB="27432" anchor="ctr">
                    <a:solidFill>
                      <a:srgbClr val="1B23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F5F7FA"/>
                          </a:solidFill>
                          <a:latin typeface="Calibri"/>
                        </a:rPr>
                        <a:t>DistilBERT (local)</a:t>
                      </a:r>
                    </a:p>
                  </a:txBody>
                  <a:tcPr marL="73152" marR="73152" marT="27432" marB="27432" anchor="ctr"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5F7FA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marL="73152" marR="73152" marT="27432" marB="27432" anchor="ctr"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5F7FA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marL="73152" marR="73152" marT="27432" marB="27432" anchor="ctr"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5F7FA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marL="73152" marR="73152" marT="27432" marB="27432" anchor="ctr"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5F7FA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73152" marR="73152" marT="27432" marB="27432" anchor="ctr">
                    <a:solidFill>
                      <a:srgbClr val="0F14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F5F7FA"/>
                          </a:solidFill>
                          <a:latin typeface="Calibri"/>
                        </a:rPr>
                        <a:t>llama-3.2-3b</a:t>
                      </a:r>
                    </a:p>
                  </a:txBody>
                  <a:tcPr marL="73152" marR="73152" marT="27432" marB="27432" anchor="ctr">
                    <a:solidFill>
                      <a:srgbClr val="1B23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5F7FA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73152" marR="73152" marT="27432" marB="27432" anchor="ctr">
                    <a:solidFill>
                      <a:srgbClr val="1B23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5F7FA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73152" marR="73152" marT="27432" marB="27432" anchor="ctr">
                    <a:solidFill>
                      <a:srgbClr val="1B23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5F7FA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marL="73152" marR="73152" marT="27432" marB="27432" anchor="ctr">
                    <a:solidFill>
                      <a:srgbClr val="1B23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5F7FA"/>
                          </a:solidFill>
                          <a:latin typeface="Calibri"/>
                        </a:rPr>
                        <a:t>0.006</a:t>
                      </a:r>
                    </a:p>
                  </a:txBody>
                  <a:tcPr marL="73152" marR="73152" marT="27432" marB="27432" anchor="ctr">
                    <a:solidFill>
                      <a:srgbClr val="1B23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F5F7FA"/>
                          </a:solidFill>
                          <a:latin typeface="Calibri"/>
                        </a:rPr>
                        <a:t>gemma-3-12b</a:t>
                      </a:r>
                    </a:p>
                  </a:txBody>
                  <a:tcPr marL="73152" marR="73152" marT="27432" marB="27432" anchor="ctr"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5F7FA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marL="73152" marR="73152" marT="27432" marB="27432" anchor="ctr"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5F7FA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marL="73152" marR="73152" marT="27432" marB="27432" anchor="ctr"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5F7FA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marL="73152" marR="73152" marT="27432" marB="27432" anchor="ctr"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5F7FA"/>
                          </a:solidFill>
                          <a:latin typeface="Calibri"/>
                        </a:rPr>
                        <a:t>0.017</a:t>
                      </a:r>
                    </a:p>
                  </a:txBody>
                  <a:tcPr marL="73152" marR="73152" marT="27432" marB="27432" anchor="ctr">
                    <a:solidFill>
                      <a:srgbClr val="0F142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20624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94A3B8"/>
                </a:solidFill>
                <a:latin typeface="Calibri"/>
              </a:rPr>
              <a:t>Filled in properly, deduplicated, on corpora each model has never seen. Plus public code so anyone can re-run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846320"/>
            <a:ext cx="10881360" cy="1143000"/>
          </a:xfrm>
          <a:prstGeom prst="roundRect">
            <a:avLst/>
          </a:prstGeom>
          <a:solidFill>
            <a:srgbClr val="1B2335"/>
          </a:solidFill>
          <a:ln w="1905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0120" y="5074920"/>
            <a:ext cx="102412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 i="0">
                <a:solidFill>
                  <a:srgbClr val="FF6B4A"/>
                </a:solidFill>
                <a:latin typeface="Calibri"/>
              </a:rPr>
              <a:t>High accuracy on one dataset is easy.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 i="0">
                <a:solidFill>
                  <a:srgbClr val="FF6B4A"/>
                </a:solidFill>
                <a:latin typeface="Calibri"/>
              </a:rPr>
              <a:t>Honest evaluation is the hard part.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94A3B8"/>
                </a:solidFill>
                <a:latin typeface="Calibri"/>
              </a:rPr>
              <a:t>Thank you. Questions?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