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0D1830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206240"/>
            <a:ext cx="4754880" cy="4754880"/>
          </a:xfrm>
          <a:prstGeom prst="ellipse">
            <a:avLst/>
          </a:prstGeom>
          <a:solidFill>
            <a:srgbClr val="0D183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234440"/>
            <a:ext cx="1371600" cy="932688"/>
          </a:xfrm>
          <a:prstGeom prst="rect">
            <a:avLst/>
          </a:prstGeom>
          <a:solidFill>
            <a:srgbClr val="14213D"/>
          </a:solidFill>
          <a:ln w="28575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685800" cy="466344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234440"/>
            <a:ext cx="-685800" cy="466344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73352" y="1709928"/>
            <a:ext cx="566928" cy="566928"/>
          </a:xfrm>
          <a:prstGeom prst="blockArc">
            <a:avLst>
              <a:gd name="adj1" fmla="val 0"/>
              <a:gd name="adj2" fmla="val 15000000"/>
              <a:gd name="adj3" fmla="val 11000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957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SECURITY  ·  UNITED INTERNATIONAL UNIVERSITY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7432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Email Detection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Large Language Models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" y="43708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Across Corpora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85800" y="5074920"/>
            <a:ext cx="3840480" cy="0"/>
          </a:xfrm>
          <a:prstGeom prst="line">
            <a:avLst/>
          </a:prstGeom>
          <a:noFill/>
          <a:ln w="15875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Jahid Ibna Sinha (011221376)  ·  Md. Jakaria Alam Saimon (011221002)  ·  Nowshin Anjum Faria (011221372)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TOPIC, IN PLAIN WORDS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Catch a Phishing Email?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35608"/>
            <a:ext cx="1005840" cy="10058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468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(subject + body)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74520" y="1938528"/>
            <a:ext cx="1234440" cy="0"/>
          </a:xfrm>
          <a:prstGeom prst="line">
            <a:avLst/>
          </a:prstGeom>
          <a:noFill/>
          <a:ln w="25400">
            <a:solidFill>
              <a:srgbClr val="E2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3017520" y="1819656"/>
            <a:ext cx="146304" cy="237744"/>
          </a:xfrm>
          <a:prstGeom prst="triangle">
            <a:avLst/>
          </a:prstGeom>
          <a:solidFill>
            <a:srgbClr val="E2E6EC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3716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3716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32120" y="1600200"/>
            <a:ext cx="1005840" cy="-502920"/>
          </a:xfrm>
          <a:prstGeom prst="line">
            <a:avLst/>
          </a:prstGeom>
          <a:noFill/>
          <a:ln w="25400">
            <a:solidFill>
              <a:srgbClr val="E2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2103120"/>
            <a:ext cx="1005840" cy="502920"/>
          </a:xfrm>
          <a:prstGeom prst="line">
            <a:avLst/>
          </a:prstGeom>
          <a:noFill/>
          <a:ln w="25400">
            <a:solidFill>
              <a:srgbClr val="E2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033272"/>
            <a:ext cx="2331720" cy="658368"/>
          </a:xfrm>
          <a:prstGeom prst="roundRect">
            <a:avLst>
              <a:gd name="adj" fmla="val 12500"/>
            </a:avLst>
          </a:prstGeom>
          <a:solidFill>
            <a:srgbClr val="FDE7E8"/>
          </a:solidFill>
          <a:ln w="15875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03327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Phishing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1920240"/>
            <a:ext cx="2331720" cy="658368"/>
          </a:xfrm>
          <a:prstGeom prst="roundRect">
            <a:avLst>
              <a:gd name="adj" fmla="val 12500"/>
            </a:avLst>
          </a:prstGeom>
          <a:solidFill>
            <a:srgbClr val="E4F3EA"/>
          </a:solidFill>
          <a:ln w="15875">
            <a:solidFill>
              <a:srgbClr val="3AA6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9202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Legitimate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137160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in one line: binary text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classification. One raw email goes in,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comes out.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59" y="313639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59" y="31181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59" y="3931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and Blocklists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59" y="422452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known bad senders and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links. Fails when the attacker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words.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64992" y="2880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39312" y="3136392"/>
            <a:ext cx="685800" cy="6858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3639312" y="31181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39312" y="3931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639312" y="422452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with Logistic Regression.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spammy word patterns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training data.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81344" y="2880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55664" y="3136392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6455664" y="31181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55664" y="3931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Models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55664" y="422452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tuned BERT and RoBERTa.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word in its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need training.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TWIST, AND WHY WE CHOSE THIS TOPIC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532120"/>
            <a:ext cx="5257800" cy="4572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5321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LLMs now write phishing emails, attacks got cheap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89320" y="5532120"/>
            <a:ext cx="5257800" cy="4572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55321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also detect phishing, and that is what we study</a:t>
            </a:r>
            <a:endParaRPr lang="en-US" sz="1150" dirty="0"/>
          </a:p>
        </p:txBody>
      </p:sp>
      <p:sp>
        <p:nvSpPr>
          <p:cNvPr id="46" name="Shape 28"/>
          <p:cNvSpPr/>
          <p:nvPr/>
        </p:nvSpPr>
        <p:spPr>
          <a:xfrm>
            <a:off x="8997696" y="28803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47" name="Shape 29"/>
          <p:cNvSpPr/>
          <p:nvPr/>
        </p:nvSpPr>
        <p:spPr>
          <a:xfrm>
            <a:off x="9272016" y="3136392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8" name="Text 30"/>
          <p:cNvSpPr/>
          <p:nvPr/>
        </p:nvSpPr>
        <p:spPr>
          <a:xfrm>
            <a:off x="9272016" y="31181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9" name="Text 31"/>
          <p:cNvSpPr/>
          <p:nvPr/>
        </p:nvSpPr>
        <p:spPr>
          <a:xfrm>
            <a:off x="9272016" y="39319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Today</a:t>
            </a:r>
            <a:endParaRPr lang="en-US" sz="1500" dirty="0"/>
          </a:p>
        </p:txBody>
      </p:sp>
      <p:sp>
        <p:nvSpPr>
          <p:cNvPr id="50" name="Text 32"/>
          <p:cNvSpPr/>
          <p:nvPr/>
        </p:nvSpPr>
        <p:spPr>
          <a:xfrm>
            <a:off x="9272016" y="422452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like a human reader.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the email and explains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no training needed.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REVIEW, 2023 TO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the 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01168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508760"/>
            <a:ext cx="384048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2697479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508760"/>
            <a:ext cx="210312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508760"/>
            <a:ext cx="18287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20116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116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Koide et al. 2024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2011680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79" y="20116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+ chain-of-thought prompt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21031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011680"/>
            <a:ext cx="18287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99.70% accuracy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633472"/>
            <a:ext cx="201168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63347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Heiding et al. 2024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2633472"/>
            <a:ext cx="384048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79" y="263347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Claude / Bard / LLaMA as judges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633472"/>
            <a:ext cx="210312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633472"/>
            <a:ext cx="18287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beat humans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255264"/>
            <a:ext cx="20116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25526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Uddin et al. 2024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3255264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79" y="325526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RoBERTa + LIME explainability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3255264"/>
            <a:ext cx="21031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255264"/>
            <a:ext cx="18287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98.45% accuracy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877056"/>
            <a:ext cx="201168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7705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et al. 2025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60320" y="3877056"/>
            <a:ext cx="384048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79" y="387705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small LLMs + LoRA on GPT-4o-mini explanations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3877056"/>
            <a:ext cx="210312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3877056"/>
            <a:ext cx="18287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big-model performance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498848"/>
            <a:ext cx="2011680" cy="621792"/>
          </a:xfrm>
          <a:prstGeom prst="rect">
            <a:avLst/>
          </a:prstGeom>
          <a:solidFill>
            <a:srgbClr val="FDE7E8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49884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Kuikel et al. 2025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60320" y="4498848"/>
            <a:ext cx="3840480" cy="621792"/>
          </a:xfrm>
          <a:prstGeom prst="rect">
            <a:avLst/>
          </a:prstGeom>
          <a:solidFill>
            <a:srgbClr val="FDE7E8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79" y="44988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explanation faithfulness (CC-SHAP)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0" y="4498848"/>
            <a:ext cx="2103120" cy="621792"/>
          </a:xfrm>
          <a:prstGeom prst="rect">
            <a:avLst/>
          </a:prstGeom>
          <a:solidFill>
            <a:srgbClr val="FDE7E8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4498848"/>
            <a:ext cx="18287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do not correlate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paper tests on one dataset at a time. Our plan: combine multiple corpora and test across them.</a:t>
            </a:r>
            <a:endParaRPr lang="en-US" sz="1600" dirty="0"/>
          </a:p>
        </p:txBody>
      </p:sp>
      <p:sp>
        <p:nvSpPr>
          <p:cNvPr id="43" name="Shape 8"/>
          <p:cNvSpPr/>
          <p:nvPr/>
        </p:nvSpPr>
        <p:spPr>
          <a:xfrm>
            <a:off x="8503920" y="1508760"/>
            <a:ext cx="310896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44" name="Text 9"/>
          <p:cNvSpPr/>
          <p:nvPr/>
        </p:nvSpPr>
        <p:spPr>
          <a:xfrm>
            <a:off x="8641080" y="1508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300" dirty="0"/>
          </a:p>
        </p:txBody>
      </p:sp>
      <p:sp>
        <p:nvSpPr>
          <p:cNvPr id="45" name="Shape 14"/>
          <p:cNvSpPr/>
          <p:nvPr/>
        </p:nvSpPr>
        <p:spPr>
          <a:xfrm>
            <a:off x="8503920" y="2011680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46" name="Text 15"/>
          <p:cNvSpPr/>
          <p:nvPr/>
        </p:nvSpPr>
        <p:spPr>
          <a:xfrm>
            <a:off x="8641080" y="201168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paid model, one dataset, no cost given</a:t>
            </a:r>
            <a:endParaRPr lang="en-US" sz="1200" dirty="0"/>
          </a:p>
        </p:txBody>
      </p:sp>
      <p:sp>
        <p:nvSpPr>
          <p:cNvPr id="47" name="Shape 20"/>
          <p:cNvSpPr/>
          <p:nvPr/>
        </p:nvSpPr>
        <p:spPr>
          <a:xfrm>
            <a:off x="8503920" y="2633472"/>
            <a:ext cx="310896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48" name="Text 21"/>
          <p:cNvSpPr/>
          <p:nvPr/>
        </p:nvSpPr>
        <p:spPr>
          <a:xfrm>
            <a:off x="8641080" y="263347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 emails per category, no public dataset</a:t>
            </a:r>
            <a:endParaRPr lang="en-US" sz="1200" dirty="0"/>
          </a:p>
        </p:txBody>
      </p:sp>
      <p:sp>
        <p:nvSpPr>
          <p:cNvPr id="49" name="Shape 26"/>
          <p:cNvSpPr/>
          <p:nvPr/>
        </p:nvSpPr>
        <p:spPr>
          <a:xfrm>
            <a:off x="8503920" y="3255264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50" name="Text 27"/>
          <p:cNvSpPr/>
          <p:nvPr/>
        </p:nvSpPr>
        <p:spPr>
          <a:xfrm>
            <a:off x="8641080" y="325526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Kaggle dataset, English only</a:t>
            </a:r>
            <a:endParaRPr lang="en-US" sz="1200" dirty="0"/>
          </a:p>
        </p:txBody>
      </p:sp>
      <p:sp>
        <p:nvSpPr>
          <p:cNvPr id="51" name="Shape 32"/>
          <p:cNvSpPr/>
          <p:nvPr/>
        </p:nvSpPr>
        <p:spPr>
          <a:xfrm>
            <a:off x="8503920" y="3877056"/>
            <a:ext cx="310896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52" name="Text 33"/>
          <p:cNvSpPr/>
          <p:nvPr/>
        </p:nvSpPr>
        <p:spPr>
          <a:xfrm>
            <a:off x="8641080" y="387705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paid teacher model, two datasets</a:t>
            </a:r>
            <a:endParaRPr lang="en-US" sz="1200" dirty="0"/>
          </a:p>
        </p:txBody>
      </p:sp>
      <p:sp>
        <p:nvSpPr>
          <p:cNvPr id="53" name="Shape 38"/>
          <p:cNvSpPr/>
          <p:nvPr/>
        </p:nvSpPr>
        <p:spPr>
          <a:xfrm>
            <a:off x="8503920" y="4498848"/>
            <a:ext cx="3108960" cy="621792"/>
          </a:xfrm>
          <a:prstGeom prst="rect">
            <a:avLst/>
          </a:prstGeom>
          <a:solidFill>
            <a:srgbClr val="FDE7E8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54" name="Text 39"/>
          <p:cNvSpPr/>
          <p:nvPr/>
        </p:nvSpPr>
        <p:spPr>
          <a:xfrm>
            <a:off x="8641080" y="449884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 pair, few models tested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EXPERIMENTS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Tested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public corpora, cleaned to text + label. TF-IDF + Logistic Regression, evaluated in-dataset.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43100" y="2240280"/>
            <a:ext cx="640080" cy="640080"/>
          </a:xfrm>
          <a:prstGeom prst="ellipse">
            <a:avLst/>
          </a:prstGeom>
          <a:solidFill>
            <a:srgbClr val="3AA65A"/>
          </a:solidFill>
          <a:ln/>
        </p:spPr>
      </p:sp>
      <p:sp>
        <p:nvSpPr>
          <p:cNvPr id="9" name="Text 7"/>
          <p:cNvSpPr/>
          <p:nvPr/>
        </p:nvSpPr>
        <p:spPr>
          <a:xfrm>
            <a:off x="194310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Phishing Email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17,505 emails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97.9%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297680" y="196596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92140" y="2240280"/>
            <a:ext cx="640080" cy="640080"/>
          </a:xfrm>
          <a:prstGeom prst="ellipse">
            <a:avLst/>
          </a:prstGeom>
          <a:solidFill>
            <a:srgbClr val="3AA65A"/>
          </a:solidFill>
          <a:ln/>
        </p:spPr>
      </p:sp>
      <p:sp>
        <p:nvSpPr>
          <p:cNvPr id="15" name="Text 13"/>
          <p:cNvSpPr/>
          <p:nvPr/>
        </p:nvSpPr>
        <p:spPr>
          <a:xfrm>
            <a:off x="569214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8056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SpamAssassin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5,809 emails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8056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97.3%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8046720" y="196596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41180" y="2240280"/>
            <a:ext cx="640080" cy="640080"/>
          </a:xfrm>
          <a:prstGeom prst="ellipse">
            <a:avLst/>
          </a:prstGeom>
          <a:solidFill>
            <a:srgbClr val="3AA65A"/>
          </a:solidFill>
          <a:ln/>
        </p:spPr>
      </p:sp>
      <p:sp>
        <p:nvSpPr>
          <p:cNvPr id="21" name="Text 19"/>
          <p:cNvSpPr/>
          <p:nvPr/>
        </p:nvSpPr>
        <p:spPr>
          <a:xfrm>
            <a:off x="944118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22960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Nazario + Enron (ham)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0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3,128 emails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97–99% in-dataset accuracy — the same range the papers report.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" y="5193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solved problem…  but is it?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Cross-Corpus Collapse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corpus A, test on corpus B. In-domain F1 was 0.992. What does it become?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A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0.992</a:t>
            </a:r>
            <a:pPr algn="l" indent="0" marL="0">
              <a:buNone/>
            </a:pPr>
            <a:r>
              <a:rPr lang="en-US" sz="5400" dirty="0">
                <a:solidFill>
                  <a:srgbClr val="C7D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l" indent="0" marL="0">
              <a:buNone/>
            </a:pPr>
            <a:r>
              <a:rPr lang="en-US" sz="5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0.304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just says “legitimate” to unseen phishing — accuracy looks fine while the phishing class is missed.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867912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↓  /  TEST 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40280" y="38862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07208" y="38862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74136" y="38862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Nazario+Enron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40280" y="4160520"/>
            <a:ext cx="521208" cy="521208"/>
          </a:xfrm>
          <a:prstGeom prst="rect">
            <a:avLst/>
          </a:prstGeom>
          <a:solidFill>
            <a:srgbClr val="3AA65A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416052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0.95–0.99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07208" y="4160520"/>
            <a:ext cx="521208" cy="521208"/>
          </a:xfrm>
          <a:prstGeom prst="rect">
            <a:avLst/>
          </a:prstGeom>
          <a:solidFill>
            <a:srgbClr val="1E2C4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7208" y="416052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74136" y="4160520"/>
            <a:ext cx="521208" cy="521208"/>
          </a:xfrm>
          <a:prstGeom prst="rect">
            <a:avLst/>
          </a:prstGeom>
          <a:solidFill>
            <a:srgbClr val="1E2C4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416052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7274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40280" y="4727448"/>
            <a:ext cx="521208" cy="521208"/>
          </a:xfrm>
          <a:prstGeom prst="rect">
            <a:avLst/>
          </a:prstGeom>
          <a:solidFill>
            <a:srgbClr val="1E2C4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472744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807208" y="4727448"/>
            <a:ext cx="521208" cy="521208"/>
          </a:xfrm>
          <a:prstGeom prst="rect">
            <a:avLst/>
          </a:prstGeom>
          <a:solidFill>
            <a:srgbClr val="3AA65A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472744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0.95–0.99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74136" y="4727448"/>
            <a:ext cx="521208" cy="521208"/>
          </a:xfrm>
          <a:prstGeom prst="rect">
            <a:avLst/>
          </a:prstGeom>
          <a:solidFill>
            <a:srgbClr val="1E2C4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472744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29437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Nazario+Enron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40280" y="5294376"/>
            <a:ext cx="521208" cy="521208"/>
          </a:xfrm>
          <a:prstGeom prst="rect">
            <a:avLst/>
          </a:prstGeom>
          <a:solidFill>
            <a:srgbClr val="E6394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40280" y="529437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807208" y="5294376"/>
            <a:ext cx="521208" cy="521208"/>
          </a:xfrm>
          <a:prstGeom prst="rect">
            <a:avLst/>
          </a:prstGeom>
          <a:solidFill>
            <a:srgbClr val="E6394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07208" y="529437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74136" y="5294376"/>
            <a:ext cx="521208" cy="521208"/>
          </a:xfrm>
          <a:prstGeom prst="rect">
            <a:avLst/>
          </a:prstGeom>
          <a:solidFill>
            <a:srgbClr val="3AA65A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529437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971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score, held-out corpus  ·  green = in-domain  ·  red = worst cross-corpus collapse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MORE CRACKS IN THE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2–5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28216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15910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Leakage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1920240"/>
            <a:ext cx="5577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hashed every email body: 3,838 shared emails between Kaggle and SpamAssassin.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52360" y="1572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45236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SpamAssassin duplicated — the “good transfer” (F1 0.972) was memorization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026664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08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288950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Corpora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3218688"/>
            <a:ext cx="5577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 span early 2000s to 2024.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52360" y="287121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52360" y="34198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phishing emails in any benchmark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059936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32511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06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41879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Conflated Labels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4517136"/>
            <a:ext cx="5577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vs. phishing labels are defined differently and conflated between corpora.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58384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62356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605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45920" y="54864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Cost Reporting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45920" y="5815584"/>
            <a:ext cx="5577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llama-3.2-3b: stable 0.80–0.84 everywhere. Bigger gemma-3-12b is worse (precision 0.58, flags everything). Nobody reports accuracy + robustness + cost together.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52360" y="54681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452360" y="60167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emails classified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PLAN TO DO ABOUT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81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23544" y="2167128"/>
            <a:ext cx="0" cy="301752"/>
          </a:xfrm>
          <a:prstGeom prst="line">
            <a:avLst/>
          </a:prstGeom>
          <a:noFill/>
          <a:ln w="19050">
            <a:solidFill>
              <a:srgbClr val="E2E6E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417320" y="1581912"/>
            <a:ext cx="9784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581912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Deduplicated, cross-corpus benchmark from free public datasets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23544" y="3035808"/>
            <a:ext cx="0" cy="301752"/>
          </a:xfrm>
          <a:prstGeom prst="line">
            <a:avLst/>
          </a:prstGeom>
          <a:noFill/>
          <a:ln w="19050">
            <a:solidFill>
              <a:srgbClr val="E2E6E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417320" y="2450592"/>
            <a:ext cx="9784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450592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Leave-one-corpus-out evaluation: classical models + small open LLMs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19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23544" y="3904488"/>
            <a:ext cx="0" cy="301752"/>
          </a:xfrm>
          <a:prstGeom prst="line">
            <a:avLst/>
          </a:prstGeom>
          <a:noFill/>
          <a:ln w="19050">
            <a:solidFill>
              <a:srgbClr val="E2E6E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417320" y="3319272"/>
            <a:ext cx="9784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3319272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improvements only — prompts, few-shot, local DistilBERT, no paid teacher model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23544" y="4773168"/>
            <a:ext cx="0" cy="301752"/>
          </a:xfrm>
          <a:prstGeom prst="line">
            <a:avLst/>
          </a:prstGeom>
          <a:noFill/>
          <a:ln w="19050">
            <a:solidFill>
              <a:srgbClr val="E2E6E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417320" y="4187952"/>
            <a:ext cx="9784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4187952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LLM-generated phishing test set, for evaluation only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23544" y="5641848"/>
            <a:ext cx="0" cy="301752"/>
          </a:xfrm>
          <a:prstGeom prst="line">
            <a:avLst/>
          </a:prstGeom>
          <a:noFill/>
          <a:ln w="19050">
            <a:solidFill>
              <a:srgbClr val="E2E6EC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417320" y="5056632"/>
            <a:ext cx="9784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1640" y="5056632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table: accuracy + robustness + cost per 1,000 emails, plus an explanation check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96112" y="23317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9052" y="2039112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1559052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7157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&amp;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Deduplicate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33272" y="3291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corpora, normalized,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deduped across sets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rot="5400000">
            <a:off x="2798064" y="3099816"/>
            <a:ext cx="201168" cy="201168"/>
          </a:xfrm>
          <a:prstGeom prst="triangle">
            <a:avLst/>
          </a:prstGeom>
          <a:solidFill>
            <a:srgbClr val="AAB4C4"/>
          </a:solidFill>
          <a:ln/>
        </p:spPr>
      </p:sp>
      <p:sp>
        <p:nvSpPr>
          <p:cNvPr id="12" name="Shape 10"/>
          <p:cNvSpPr/>
          <p:nvPr/>
        </p:nvSpPr>
        <p:spPr>
          <a:xfrm>
            <a:off x="3026664" y="23317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89604" y="2039112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3689604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36392" y="27157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Leave-One-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Loop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63824" y="3291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prompt on 2 corpora,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the held-out one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 rot="5400000">
            <a:off x="4928616" y="3099816"/>
            <a:ext cx="201168" cy="201168"/>
          </a:xfrm>
          <a:prstGeom prst="triangle">
            <a:avLst/>
          </a:prstGeom>
          <a:solidFill>
            <a:srgbClr val="AAB4C4"/>
          </a:solidFill>
          <a:ln/>
        </p:spPr>
      </p:sp>
      <p:sp>
        <p:nvSpPr>
          <p:cNvPr id="18" name="Shape 16"/>
          <p:cNvSpPr/>
          <p:nvPr/>
        </p:nvSpPr>
        <p:spPr>
          <a:xfrm>
            <a:off x="5157216" y="23317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20156" y="2039112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5820156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66944" y="27157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94376" y="3291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TF-IDF+LogReg, DistilBERT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(CPU), llama-3.2-3b 0/few-shot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 rot="5400000">
            <a:off x="7059168" y="3099816"/>
            <a:ext cx="201168" cy="201168"/>
          </a:xfrm>
          <a:prstGeom prst="triangle">
            <a:avLst/>
          </a:prstGeom>
          <a:solidFill>
            <a:srgbClr val="AAB4C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87768" y="23317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0708" y="2039112"/>
            <a:ext cx="548640" cy="54864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6" name="Text 24"/>
          <p:cNvSpPr/>
          <p:nvPr/>
        </p:nvSpPr>
        <p:spPr>
          <a:xfrm>
            <a:off x="7950708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97496" y="27157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LLM-Phishing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24928" y="3291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test set of AI-written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measure degradation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rot="5400000">
            <a:off x="9189720" y="3099816"/>
            <a:ext cx="201168" cy="201168"/>
          </a:xfrm>
          <a:prstGeom prst="triangle">
            <a:avLst/>
          </a:prstGeom>
          <a:solidFill>
            <a:srgbClr val="AAB4C4"/>
          </a:solidFill>
          <a:ln/>
        </p:spPr>
      </p:sp>
      <p:sp>
        <p:nvSpPr>
          <p:cNvPr id="30" name="Shape 28"/>
          <p:cNvSpPr/>
          <p:nvPr/>
        </p:nvSpPr>
        <p:spPr>
          <a:xfrm>
            <a:off x="9418320" y="23317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81260" y="2039112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10081260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28048" y="27157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Table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555480" y="3291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robustness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drop, cost per 1,000 emails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core of the project: the same protocol, applied to every model, every held-out corpus.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5486400" cy="5486400"/>
          </a:xfrm>
          <a:prstGeom prst="ellipse">
            <a:avLst/>
          </a:prstGeom>
          <a:solidFill>
            <a:srgbClr val="0D18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0D18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“High accuracy on one dataset is easy.
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evaluation is the hard part.”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E2C4F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200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benchmark, code public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30632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E2C4F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32918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3200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cross-corpus comparison table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30632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E2C4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3291840"/>
            <a:ext cx="502920" cy="5029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15400" y="3200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laptop — total LLM budget under $5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(spent so far: under 1 cent)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06240" y="5074920"/>
            <a:ext cx="3749040" cy="0"/>
          </a:xfrm>
          <a:prstGeom prst="line">
            <a:avLst/>
          </a:prstGeom>
          <a:noFill/>
          <a:ln w="12700">
            <a:solidFill>
              <a:srgbClr val="2E3C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Jakaria Alam Saimon (011221002)  ·  Jahid Ibna Sinha (011221376)  ·  Nowshin Anjum Faria (011221372)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2026-08-10T18:46:52Z</dcterms:created>
  <dcterms:modified xsi:type="dcterms:W3CDTF">2026-08-10T18:46:52Z</dcterms:modified>
</cp:coreProperties>
</file>