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0D1830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4206240"/>
            <a:ext cx="4754880" cy="4754880"/>
          </a:xfrm>
          <a:prstGeom prst="ellipse">
            <a:avLst/>
          </a:prstGeom>
          <a:solidFill>
            <a:srgbClr val="0D183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234440"/>
            <a:ext cx="1371600" cy="932688"/>
          </a:xfrm>
          <a:prstGeom prst="rect">
            <a:avLst/>
          </a:prstGeom>
          <a:solidFill>
            <a:srgbClr val="14213D"/>
          </a:solidFill>
          <a:ln w="28575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34440"/>
            <a:ext cx="685800" cy="466344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234440"/>
            <a:ext cx="-685800" cy="466344"/>
          </a:xfrm>
          <a:prstGeom prst="line">
            <a:avLst/>
          </a:prstGeom>
          <a:noFill/>
          <a:ln w="28575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73352" y="1709928"/>
            <a:ext cx="566928" cy="566928"/>
          </a:xfrm>
          <a:prstGeom prst="blockArc">
            <a:avLst>
              <a:gd name="adj1" fmla="val 0"/>
              <a:gd name="adj2" fmla="val 15000000"/>
              <a:gd name="adj3" fmla="val 11000"/>
            </a:avLst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957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SECURITY  ·  UNITED INTERNATIONAL UNIVERSITY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27432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Email Detection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Large Language Models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85800" y="43708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Benchmarking of Small Open LLMs Across Corpora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85800" y="5074920"/>
            <a:ext cx="3840480" cy="0"/>
          </a:xfrm>
          <a:prstGeom prst="line">
            <a:avLst/>
          </a:prstGeom>
          <a:noFill/>
          <a:ln w="15875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Jakaria Alam Saimon (011221002)  ·  Jahid Ibna Sinha (011221376)  ·  Nowshin Anjum Faria (011221372)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Task, Technically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Benchmarking of Small Open LLMs  ·  Group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35608"/>
            <a:ext cx="1005840" cy="100584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468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(subject + body)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74520" y="1938528"/>
            <a:ext cx="1234440" cy="0"/>
          </a:xfrm>
          <a:prstGeom prst="line">
            <a:avLst/>
          </a:prstGeom>
          <a:noFill/>
          <a:ln w="25400">
            <a:solidFill>
              <a:srgbClr val="E2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3017520" y="1819656"/>
            <a:ext cx="146304" cy="237744"/>
          </a:xfrm>
          <a:prstGeom prst="triangle">
            <a:avLst/>
          </a:prstGeom>
          <a:solidFill>
            <a:srgbClr val="E2E6EC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37160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37160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32120" y="1600200"/>
            <a:ext cx="1005840" cy="-502920"/>
          </a:xfrm>
          <a:prstGeom prst="line">
            <a:avLst/>
          </a:prstGeom>
          <a:noFill/>
          <a:ln w="25400">
            <a:solidFill>
              <a:srgbClr val="E2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2103120"/>
            <a:ext cx="1005840" cy="502920"/>
          </a:xfrm>
          <a:prstGeom prst="line">
            <a:avLst/>
          </a:prstGeom>
          <a:noFill/>
          <a:ln w="25400">
            <a:solidFill>
              <a:srgbClr val="E2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033272"/>
            <a:ext cx="2331720" cy="658368"/>
          </a:xfrm>
          <a:prstGeom prst="roundRect">
            <a:avLst>
              <a:gd name="adj" fmla="val 12500"/>
            </a:avLst>
          </a:prstGeom>
          <a:solidFill>
            <a:srgbClr val="FDE7E8"/>
          </a:solidFill>
          <a:ln w="15875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03327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Phishing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1920240"/>
            <a:ext cx="2331720" cy="658368"/>
          </a:xfrm>
          <a:prstGeom prst="roundRect">
            <a:avLst>
              <a:gd name="adj" fmla="val 12500"/>
            </a:avLst>
          </a:prstGeom>
          <a:solidFill>
            <a:srgbClr val="E4F3EA"/>
          </a:solidFill>
          <a:ln w="15875">
            <a:solidFill>
              <a:srgbClr val="3AA6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92024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Legitimate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137160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text classification — input a raw email, output one of two labels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880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136392"/>
            <a:ext cx="685800" cy="68580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11810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931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ML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4297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 +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/ Naive Bayes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97680" y="2880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3136392"/>
            <a:ext cx="685800" cy="6858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311810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3931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Encoders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0" y="4297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RoBERTa,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2880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3136392"/>
            <a:ext cx="685800" cy="6858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311810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21040" y="3931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Decoder LLMs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4297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zero/few-shot,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LoRA fine-tuned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CORPORA USED IN RESEARCH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532120"/>
            <a:ext cx="2174443" cy="4572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532120"/>
            <a:ext cx="21744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Phishing Email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924251" y="5532120"/>
            <a:ext cx="1367942" cy="4572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4251" y="5532120"/>
            <a:ext cx="13679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SpamAssassin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493362" y="5532120"/>
            <a:ext cx="919886" cy="4572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93362" y="5532120"/>
            <a:ext cx="9198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Nazario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614416" y="5532120"/>
            <a:ext cx="740664" cy="4572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14416" y="5532120"/>
            <a:ext cx="74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556248" y="5532120"/>
            <a:ext cx="919886" cy="45720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1421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56248" y="5532120"/>
            <a:ext cx="9198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CEAS_08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REVIEW, 2023–2026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of the 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Benchmarking of Small Open LLMs  ·  Group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468880" cy="5029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1508760"/>
            <a:ext cx="5760720" cy="5029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3154680" y="1508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78240" y="1508760"/>
            <a:ext cx="2834640" cy="50292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891540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2468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1168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Koide et al. 2024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2011680"/>
            <a:ext cx="57607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201168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+ chain-of-thought prompt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78240" y="2011680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20116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99.70% accuracy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633472"/>
            <a:ext cx="2468880" cy="621792"/>
          </a:xfrm>
          <a:prstGeom prst="rect">
            <a:avLst/>
          </a:prstGeom>
          <a:solidFill>
            <a:srgbClr val="F1F4F9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63347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Heiding et al. 2024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2633472"/>
            <a:ext cx="5760720" cy="621792"/>
          </a:xfrm>
          <a:prstGeom prst="rect">
            <a:avLst/>
          </a:prstGeom>
          <a:solidFill>
            <a:srgbClr val="F1F4F9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2633472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/ Claude / Bard / LLaMA as judges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78240" y="2633472"/>
            <a:ext cx="2834640" cy="621792"/>
          </a:xfrm>
          <a:prstGeom prst="rect">
            <a:avLst/>
          </a:prstGeom>
          <a:solidFill>
            <a:srgbClr val="F1F4F9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5400" y="263347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beat humans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255264"/>
            <a:ext cx="2468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25526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Uddin et al. 2024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17520" y="3255264"/>
            <a:ext cx="57607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3255264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RoBERTa + LIME explainability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778240" y="3255264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15400" y="325526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98.45% accuracy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877056"/>
            <a:ext cx="2468880" cy="621792"/>
          </a:xfrm>
          <a:prstGeom prst="rect">
            <a:avLst/>
          </a:prstGeom>
          <a:solidFill>
            <a:srgbClr val="F1F4F9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87705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 et al. 2025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17520" y="3877056"/>
            <a:ext cx="5760720" cy="621792"/>
          </a:xfrm>
          <a:prstGeom prst="rect">
            <a:avLst/>
          </a:prstGeom>
          <a:solidFill>
            <a:srgbClr val="F1F4F9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3877056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small LLMs + LoRA on GPT-4o-mini explanations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778240" y="3877056"/>
            <a:ext cx="2834640" cy="621792"/>
          </a:xfrm>
          <a:prstGeom prst="rect">
            <a:avLst/>
          </a:prstGeom>
          <a:solidFill>
            <a:srgbClr val="F1F4F9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15400" y="387705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big-model performance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498848"/>
            <a:ext cx="2468880" cy="621792"/>
          </a:xfrm>
          <a:prstGeom prst="rect">
            <a:avLst/>
          </a:prstGeom>
          <a:solidFill>
            <a:srgbClr val="FDE7E8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4988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Kuikel et al. 2025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017520" y="4498848"/>
            <a:ext cx="5760720" cy="621792"/>
          </a:xfrm>
          <a:prstGeom prst="rect">
            <a:avLst/>
          </a:prstGeom>
          <a:solidFill>
            <a:srgbClr val="FDE7E8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54680" y="449884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explanation faithfulness (CC-SHAP)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778240" y="4498848"/>
            <a:ext cx="2834640" cy="621792"/>
          </a:xfrm>
          <a:prstGeom prst="rect">
            <a:avLst/>
          </a:prstGeom>
          <a:solidFill>
            <a:srgbClr val="FDE7E8"/>
          </a:solidFill>
          <a:ln w="9525">
            <a:solidFill>
              <a:srgbClr val="E2E6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15400" y="449884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do not correlate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line: everything above is measured on ONE dataset at a time.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EXPERIMENTS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Tested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Benchmarking of Small Open LLMs  ·  Group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public corpora, cleaned to text + label. TF-IDF + Logistic Regression, evaluated in-dataset.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943100" y="2240280"/>
            <a:ext cx="640080" cy="640080"/>
          </a:xfrm>
          <a:prstGeom prst="ellipse">
            <a:avLst/>
          </a:prstGeom>
          <a:solidFill>
            <a:srgbClr val="3AA65A"/>
          </a:solidFill>
          <a:ln/>
        </p:spPr>
      </p:sp>
      <p:sp>
        <p:nvSpPr>
          <p:cNvPr id="9" name="Text 7"/>
          <p:cNvSpPr/>
          <p:nvPr/>
        </p:nvSpPr>
        <p:spPr>
          <a:xfrm>
            <a:off x="1943100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 Phishing Email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17,505 emails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97.9%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297680" y="196596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92140" y="2240280"/>
            <a:ext cx="640080" cy="640080"/>
          </a:xfrm>
          <a:prstGeom prst="ellipse">
            <a:avLst/>
          </a:prstGeom>
          <a:solidFill>
            <a:srgbClr val="3AA65A"/>
          </a:solidFill>
          <a:ln/>
        </p:spPr>
      </p:sp>
      <p:sp>
        <p:nvSpPr>
          <p:cNvPr id="15" name="Text 13"/>
          <p:cNvSpPr/>
          <p:nvPr/>
        </p:nvSpPr>
        <p:spPr>
          <a:xfrm>
            <a:off x="5692140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8056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SpamAssassin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80560" y="3474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5,809 emails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80560" y="3749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97.3%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8046720" y="196596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41180" y="2240280"/>
            <a:ext cx="640080" cy="640080"/>
          </a:xfrm>
          <a:prstGeom prst="ellipse">
            <a:avLst/>
          </a:prstGeom>
          <a:solidFill>
            <a:srgbClr val="3AA65A"/>
          </a:solidFill>
          <a:ln/>
        </p:spPr>
      </p:sp>
      <p:sp>
        <p:nvSpPr>
          <p:cNvPr id="21" name="Text 19"/>
          <p:cNvSpPr/>
          <p:nvPr/>
        </p:nvSpPr>
        <p:spPr>
          <a:xfrm>
            <a:off x="9441180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22960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Nazario + Enron (ham)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0" y="3474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3,128 emails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0" y="3749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8640" y="4709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97–99% in-dataset accuracy — the same range the papers report.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" y="51937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 solved problem…  but is it?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Cross-Corpus Collapse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Benchmarking of Small Open LLMs  ·  Group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corpus A, test on corpus B. In-domain F1 was 0.992. What does it become?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A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0.992</a:t>
            </a:r>
            <a:pPr algn="l" indent="0" marL="0">
              <a:buNone/>
            </a:pPr>
            <a:r>
              <a:rPr lang="en-US" sz="5400" dirty="0">
                <a:solidFill>
                  <a:srgbClr val="C7D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l" indent="0" marL="0">
              <a:buNone/>
            </a:pPr>
            <a:r>
              <a:rPr lang="en-US" sz="5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0.304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just says “legitimate” to unseen phishing — accuracy looks fine while the phishing class is missed.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867912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↓  /  TEST →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40280" y="38862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07208" y="38862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SpamAssassin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74136" y="38862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Nazario+Enron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40280" y="4160520"/>
            <a:ext cx="521208" cy="521208"/>
          </a:xfrm>
          <a:prstGeom prst="rect">
            <a:avLst/>
          </a:prstGeom>
          <a:solidFill>
            <a:srgbClr val="3AA65A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416052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0.95–0.99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07208" y="4160520"/>
            <a:ext cx="521208" cy="521208"/>
          </a:xfrm>
          <a:prstGeom prst="rect">
            <a:avLst/>
          </a:prstGeom>
          <a:solidFill>
            <a:srgbClr val="1E2C4F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07208" y="416052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74136" y="4160520"/>
            <a:ext cx="521208" cy="521208"/>
          </a:xfrm>
          <a:prstGeom prst="rect">
            <a:avLst/>
          </a:prstGeom>
          <a:solidFill>
            <a:srgbClr val="1E2C4F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416052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7274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SpamAssassin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40280" y="4727448"/>
            <a:ext cx="521208" cy="521208"/>
          </a:xfrm>
          <a:prstGeom prst="rect">
            <a:avLst/>
          </a:prstGeom>
          <a:solidFill>
            <a:srgbClr val="1E2C4F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472744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807208" y="4727448"/>
            <a:ext cx="521208" cy="521208"/>
          </a:xfrm>
          <a:prstGeom prst="rect">
            <a:avLst/>
          </a:prstGeom>
          <a:solidFill>
            <a:srgbClr val="3AA65A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07208" y="472744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0.95–0.99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74136" y="4727448"/>
            <a:ext cx="521208" cy="521208"/>
          </a:xfrm>
          <a:prstGeom prst="rect">
            <a:avLst/>
          </a:prstGeom>
          <a:solidFill>
            <a:srgbClr val="1E2C4F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472744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29437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Nazario+Enron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40280" y="5294376"/>
            <a:ext cx="521208" cy="521208"/>
          </a:xfrm>
          <a:prstGeom prst="rect">
            <a:avLst/>
          </a:prstGeom>
          <a:solidFill>
            <a:srgbClr val="E6394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40280" y="529437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0.304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807208" y="5294376"/>
            <a:ext cx="521208" cy="521208"/>
          </a:xfrm>
          <a:prstGeom prst="rect">
            <a:avLst/>
          </a:prstGeom>
          <a:solidFill>
            <a:srgbClr val="E6394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07208" y="529437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74136" y="5294376"/>
            <a:ext cx="521208" cy="521208"/>
          </a:xfrm>
          <a:prstGeom prst="rect">
            <a:avLst/>
          </a:prstGeom>
          <a:solidFill>
            <a:srgbClr val="3AA65A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74136" y="529437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0.992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5971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score, held-out corpus  ·  green = in-domain  ·  red = worst cross-corpus collapse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MORE CRACKS IN THE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2–5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Benchmarking of Small Open LLMs  ·  Group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28216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09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15910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Leakage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45920" y="1920240"/>
            <a:ext cx="5577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hashed every email body: 3,838 shared emails between Kaggle and SpamAssassin.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52360" y="15727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452360" y="2121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SpamAssassin duplicated — the “good transfer” (F1 0.972) was memorization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761488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026664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08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288950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 Corpora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45920" y="3218688"/>
            <a:ext cx="5577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 span early 2000s to 2024.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52360" y="287121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52360" y="34198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phishing emails in any benchmark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059936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325112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06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418795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Conflated Labels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45920" y="4517136"/>
            <a:ext cx="5577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vs. phishing labels are defined differently and conflated between corpora.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358384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62356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605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45920" y="54864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Cost Reporting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45920" y="5815584"/>
            <a:ext cx="5577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llama-3.2-3b: stable 0.80–0.84 everywhere. Bigger gemma-3-12b is worse (precision 0.58, flags everything). Nobody reports accuracy + robustness + cost together.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52360" y="54681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$0.005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452360" y="60167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1,000 emails classified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PLAN TO DO ABOUT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Benchmarking of Small Open LLMs  ·  Group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81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23544" y="2167128"/>
            <a:ext cx="0" cy="301752"/>
          </a:xfrm>
          <a:prstGeom prst="line">
            <a:avLst/>
          </a:prstGeom>
          <a:noFill/>
          <a:ln w="19050">
            <a:solidFill>
              <a:srgbClr val="E2E6E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417320" y="1581912"/>
            <a:ext cx="9784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581912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Deduplicated, cross-corpus benchmark from free public datasets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23544" y="3035808"/>
            <a:ext cx="0" cy="301752"/>
          </a:xfrm>
          <a:prstGeom prst="line">
            <a:avLst/>
          </a:prstGeom>
          <a:noFill/>
          <a:ln w="19050">
            <a:solidFill>
              <a:srgbClr val="E2E6E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417320" y="2450592"/>
            <a:ext cx="9784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450592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Leave-one-corpus-out evaluation: classical models + small open LLMs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19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23544" y="3904488"/>
            <a:ext cx="0" cy="301752"/>
          </a:xfrm>
          <a:prstGeom prst="line">
            <a:avLst/>
          </a:prstGeom>
          <a:noFill/>
          <a:ln w="19050">
            <a:solidFill>
              <a:srgbClr val="E2E6E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417320" y="3319272"/>
            <a:ext cx="9784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3319272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improvements only — prompts, few-shot, local DistilBERT, no paid teacher model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23544" y="4773168"/>
            <a:ext cx="0" cy="301752"/>
          </a:xfrm>
          <a:prstGeom prst="line">
            <a:avLst/>
          </a:prstGeom>
          <a:noFill/>
          <a:ln w="19050">
            <a:solidFill>
              <a:srgbClr val="E2E6E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417320" y="4187952"/>
            <a:ext cx="9784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640" y="4187952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LLM-generated phishing test set, for evaluation only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507492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23544" y="5641848"/>
            <a:ext cx="0" cy="301752"/>
          </a:xfrm>
          <a:prstGeom prst="line">
            <a:avLst/>
          </a:prstGeom>
          <a:noFill/>
          <a:ln w="19050">
            <a:solidFill>
              <a:srgbClr val="E2E6EC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417320" y="5056632"/>
            <a:ext cx="9784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91640" y="5056632"/>
            <a:ext cx="9235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table: accuracy + robustness + cost per 1,000 emails, plus an explanation check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FIVE-STAGE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Benchmarking of Small Open LLMs  ·  Group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96112" y="233172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9052" y="2039112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1559052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7157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&amp;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Deduplicate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33272" y="32918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corpora, normalized,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deduped across sets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 rot="5400000">
            <a:off x="2798064" y="3099816"/>
            <a:ext cx="201168" cy="201168"/>
          </a:xfrm>
          <a:prstGeom prst="triangle">
            <a:avLst/>
          </a:prstGeom>
          <a:solidFill>
            <a:srgbClr val="AAB4C4"/>
          </a:solidFill>
          <a:ln/>
        </p:spPr>
      </p:sp>
      <p:sp>
        <p:nvSpPr>
          <p:cNvPr id="12" name="Shape 10"/>
          <p:cNvSpPr/>
          <p:nvPr/>
        </p:nvSpPr>
        <p:spPr>
          <a:xfrm>
            <a:off x="3026664" y="233172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89604" y="2039112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3689604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36392" y="27157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Leave-One-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Loop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63824" y="32918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prompt on 2 corpora,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the held-out one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 rot="5400000">
            <a:off x="4928616" y="3099816"/>
            <a:ext cx="201168" cy="201168"/>
          </a:xfrm>
          <a:prstGeom prst="triangle">
            <a:avLst/>
          </a:prstGeom>
          <a:solidFill>
            <a:srgbClr val="AAB4C4"/>
          </a:solidFill>
          <a:ln/>
        </p:spPr>
      </p:sp>
      <p:sp>
        <p:nvSpPr>
          <p:cNvPr id="18" name="Shape 16"/>
          <p:cNvSpPr/>
          <p:nvPr/>
        </p:nvSpPr>
        <p:spPr>
          <a:xfrm>
            <a:off x="5157216" y="233172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20156" y="2039112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5820156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66944" y="27157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94376" y="32918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TF-IDF+LogReg, DistilBERT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(CPU), llama-3.2-3b 0/few-shot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 rot="5400000">
            <a:off x="7059168" y="3099816"/>
            <a:ext cx="201168" cy="201168"/>
          </a:xfrm>
          <a:prstGeom prst="triangle">
            <a:avLst/>
          </a:prstGeom>
          <a:solidFill>
            <a:srgbClr val="AAB4C4"/>
          </a:solidFill>
          <a:ln/>
        </p:spPr>
      </p:sp>
      <p:sp>
        <p:nvSpPr>
          <p:cNvPr id="24" name="Shape 22"/>
          <p:cNvSpPr/>
          <p:nvPr/>
        </p:nvSpPr>
        <p:spPr>
          <a:xfrm>
            <a:off x="7287768" y="233172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9A23B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0708" y="2039112"/>
            <a:ext cx="548640" cy="54864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6" name="Text 24"/>
          <p:cNvSpPr/>
          <p:nvPr/>
        </p:nvSpPr>
        <p:spPr>
          <a:xfrm>
            <a:off x="7950708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97496" y="27157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LLM-Phishing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Test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24928" y="32918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test set of AI-written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phishing, measure degradation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 rot="5400000">
            <a:off x="9189720" y="3099816"/>
            <a:ext cx="201168" cy="201168"/>
          </a:xfrm>
          <a:prstGeom prst="triangle">
            <a:avLst/>
          </a:prstGeom>
          <a:solidFill>
            <a:srgbClr val="AAB4C4"/>
          </a:solidFill>
          <a:ln/>
        </p:spPr>
      </p:sp>
      <p:sp>
        <p:nvSpPr>
          <p:cNvPr id="30" name="Shape 28"/>
          <p:cNvSpPr/>
          <p:nvPr/>
        </p:nvSpPr>
        <p:spPr>
          <a:xfrm>
            <a:off x="9418320" y="233172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81260" y="2039112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2" name="Text 30"/>
          <p:cNvSpPr/>
          <p:nvPr/>
        </p:nvSpPr>
        <p:spPr>
          <a:xfrm>
            <a:off x="10081260" y="2020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28048" y="27157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Table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555480" y="32918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robustness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drop, cost per 1,000 emails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core of the project: the same protocol, applied to every model, every held-out corpus.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5486400" cy="5486400"/>
          </a:xfrm>
          <a:prstGeom prst="ellipse">
            <a:avLst/>
          </a:prstGeom>
          <a:solidFill>
            <a:srgbClr val="0D183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0D183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“High accuracy on one dataset is easy.
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evaluation is the hard part.”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E2C4F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2918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3200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benchmark, code public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306324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E2C4F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32918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3200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 cross-corpus comparison table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306324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1E2C4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3291840"/>
            <a:ext cx="502920" cy="5029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15400" y="3200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laptop — total LLM budget under $5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(spent so far: under 1 cent)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06240" y="5074920"/>
            <a:ext cx="3749040" cy="0"/>
          </a:xfrm>
          <a:prstGeom prst="line">
            <a:avLst/>
          </a:prstGeom>
          <a:noFill/>
          <a:ln w="12700">
            <a:solidFill>
              <a:srgbClr val="2E3C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Jakaria Alam Saimon (011221002)  ·  Jahid Ibna Sinha (011221376)  ·  Nowshin Anjum Faria (011221372)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2026-08-10T18:46:52Z</dcterms:created>
  <dcterms:modified xsi:type="dcterms:W3CDTF">2026-08-10T18:46:52Z</dcterms:modified>
</cp:coreProperties>
</file>