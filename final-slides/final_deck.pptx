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5F7FA"/>
                </a:solidFill>
                <a:latin typeface="Arial"/>
              </a:defRPr>
            </a:pPr>
            <a:r>
              <a:rPr sz="1400" b="0" i="0" u="none" strike="noStrike">
                <a:solidFill>
                  <a:srgbClr val="F5F7FA"/>
                </a:solidFill>
                <a:latin typeface="Arial"/>
              </a:rPr>
              <a:t>TF-IDF + LogReg, F1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In-corpus (80/20)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spamassassin</c:v>
                  </c:pt>
                  <c:pt idx="1">
                    <c:v>ling</c:v>
                  </c:pt>
                  <c:pt idx="2">
                    <c:v>enron</c:v>
                  </c:pt>
                  <c:pt idx="3">
                    <c:v>kaggle</c:v>
                  </c:pt>
                  <c:pt idx="4">
                    <c:v>ceas08</c:v>
                  </c:pt>
                  <c:pt idx="5">
                    <c:v>trec07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0.966</c:v>
                </c:pt>
                <c:pt idx="1">
                  <c:v>0.93</c:v>
                </c:pt>
                <c:pt idx="2">
                  <c:v>0.981</c:v>
                </c:pt>
                <c:pt idx="3">
                  <c:v>0.965</c:v>
                </c:pt>
                <c:pt idx="4">
                  <c:v>0.986</c:v>
                </c:pt>
                <c:pt idx="5">
                  <c:v>0.985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Unseen, raw</c:v>
                </c:pt>
              </c:strCache>
            </c:strRef>
          </c:tx>
          <c:spPr>
            <a:solidFill>
              <a:srgbClr val="FBBF2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spamassassin</c:v>
                  </c:pt>
                  <c:pt idx="1">
                    <c:v>ling</c:v>
                  </c:pt>
                  <c:pt idx="2">
                    <c:v>enron</c:v>
                  </c:pt>
                  <c:pt idx="3">
                    <c:v>kaggle</c:v>
                  </c:pt>
                  <c:pt idx="4">
                    <c:v>ceas08</c:v>
                  </c:pt>
                  <c:pt idx="5">
                    <c:v>trec07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0.947</c:v>
                </c:pt>
                <c:pt idx="1">
                  <c:v>0.962</c:v>
                </c:pt>
                <c:pt idx="2">
                  <c:v>0.972</c:v>
                </c:pt>
                <c:pt idx="3">
                  <c:v>0.976</c:v>
                </c:pt>
                <c:pt idx="4">
                  <c:v>0.833</c:v>
                </c:pt>
                <c:pt idx="5">
                  <c:v>0.871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Unseen, decontaminated</c:v>
                </c:pt>
              </c:strCache>
            </c:strRef>
          </c:tx>
          <c:spPr>
            <a:solidFill>
              <a:srgbClr val="FF6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spamassassin</c:v>
                  </c:pt>
                  <c:pt idx="1">
                    <c:v>ling</c:v>
                  </c:pt>
                  <c:pt idx="2">
                    <c:v>enron</c:v>
                  </c:pt>
                  <c:pt idx="3">
                    <c:v>kaggle</c:v>
                  </c:pt>
                  <c:pt idx="4">
                    <c:v>ceas08</c:v>
                  </c:pt>
                  <c:pt idx="5">
                    <c:v>trec07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0.847</c:v>
                </c:pt>
                <c:pt idx="1">
                  <c:v>0.847</c:v>
                </c:pt>
                <c:pt idx="2">
                  <c:v>0.919</c:v>
                </c:pt>
                <c:pt idx="3">
                  <c:v>0.928</c:v>
                </c:pt>
                <c:pt idx="4">
                  <c:v>0.832</c:v>
                </c:pt>
                <c:pt idx="5">
                  <c:v>0.871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5F7F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2A344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F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F5F7F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sec. Names and title. Say: in the proposal we promised a table that did not exist. Today we show it filled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Walk the timeline in one breath. Then the three changes, be open about the old numbers. Land on the question in the blue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Do not read every row. Say: five of six fully done, one mostly, and say why Phishsense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Point at steps 2 and 3, those are ours. Explain raw vs clean in one sentence. Then hand over to Saimon.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This is the notebook slide. Mention: all numbers on later slides are produced by these scripts, the notebook re-creates every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 sec. Say the three numbers slowly: two, three thousand eight hundred, five thousand. The exact check is what most people would run and it finds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 sec. Kaggle to SpamAssassin was the suspicious 0.97 from July. Now it is measured. Point at CEAS and TREC: no overlap, no change. Hand over to Faria.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Read only the top row, the TF-IDF row and the worst LLM. Point at the cost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Three takeaways, one sentence each. Point at the top left of the plot: high F1, low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Say the first three clearly. The teacher will ask about LLM pre-training contamination, so name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Four blocks, left to right. Stress that each one is small because the pipeline already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sec. Read the links, then the closing line slowly, then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ahid15/phishing-llm-cross-corpus" TargetMode="External"/><Relationship Id="rId2" Type="http://schemas.openxmlformats.org/officeDocument/2006/relationships/hyperlink" Target="https://colab.research.google.com/github/Jahid15/phishing-llm-cross-corpus/blob/main/notebooks/phishing_llm_cross_corpus.ipynb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SECURITY · FINAL UPDATE · PROJECT FORUM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Email Detection Using Large Language Models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leakage-aware, cross-corpus and cost-aware benchmark of small open LLMs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5720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Jahid Ibna Sinha (011221376)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Md. Jakaria Alam Saimon (011221002)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Nowshin Anjum Faria (011221372)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0" y="4937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International University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18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STARTED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suspicion to a measured result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JUL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papers, all 97 to 99%. Every one tests inside one dataset. None reports cost.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88920" y="155448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64592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JUL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run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one corpus, test on another: F1 0.99 fell to 0.30.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155448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6360" y="164592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check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already contains two thirds of SpamAssassin.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269480" y="155448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164592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SEP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talk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objectives, one table to fill.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509760" y="155448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1B2335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46920" y="164592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experiments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sources, 9 models, 164,871 emails checked for overlap.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since the proposal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93592" cy="1325880"/>
          </a:xfrm>
          <a:prstGeom prst="roundRect">
            <a:avLst>
              <a:gd name="adj" fmla="val 5517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931920"/>
            <a:ext cx="33192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found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E-PhishGen (AISec 2025) already tested classical models across corpora. Our claim is now leakage removal plus cost, and we cite them.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279392" y="3840480"/>
            <a:ext cx="3593592" cy="1325880"/>
          </a:xfrm>
          <a:prstGeom prst="roundRect">
            <a:avLst>
              <a:gd name="adj" fmla="val 5517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16552" y="3931920"/>
            <a:ext cx="33192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Nazario is test-only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Enron became a full corpus, so pairing Nazario with Enron mail would leak. Nazario now measures phishing recall only.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010144" y="3840480"/>
            <a:ext cx="3593592" cy="1325880"/>
          </a:xfrm>
          <a:prstGeom prst="roundRect">
            <a:avLst>
              <a:gd name="adj" fmla="val 5517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47304" y="3931920"/>
            <a:ext cx="33192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rebuilt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74.4% / 4,282 / 48 on our proposal slides came from an unsaved run. Every number today comes from code in the repo.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440680"/>
            <a:ext cx="11091672" cy="822960"/>
          </a:xfrm>
          <a:prstGeom prst="roundRect">
            <a:avLst>
              <a:gd name="adj" fmla="val 8889"/>
            </a:avLst>
          </a:prstGeom>
          <a:solidFill>
            <a:srgbClr val="1B2335"/>
          </a:solidFill>
          <a:ln w="19050">
            <a:solidFill>
              <a:srgbClr val="60A5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5486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</a:t>
            </a:r>
            <a:pPr indent="0" marL="0">
              <a:buNone/>
            </a:pPr>
            <a:r>
              <a:rPr lang="en-US" sz="16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remove leaked emails and always test on a corpus the model has never seen, how good are cheap detectors, and what do they cost?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objectives from the proposal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743200"/>
                <a:gridCol w="65836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delivered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Decontaminated benchmark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sources, overlap measured at 3 levels, near duplicates removed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Leave-one-corpus-out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folds, each run with raw and cleaned training data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protocol, all families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classical, DistilBERT, 6 small LLMs, 2 few-shot. Phishsense-1B not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in dollars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cost of every one of 16,200 LLM calls, from OpenRouter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AI-written phishing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E-PhishLLM (GPT-4o-mini emails) as a held-out shift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honest table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on unseen corpora with 95% bootstrap intervals, next to 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Phishsense-1B needs a HuggingFace access token. It is the first item for the next two weeks.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one script each, all on a laptop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1B2335"/>
          </a:solidFill>
          <a:ln w="19050">
            <a:solidFill>
              <a:srgbClr val="60A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Collect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public sources, subject + body, 10k cap per corpus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194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23160" y="164592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1B2335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Overlap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exact, normalized, MinHash near duplicate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069080" y="2194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297680" y="164592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1B2335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3484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Decontaminate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5 corpora, drop copies of the 6th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194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172200" y="164592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1B2335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TF-IDF, DistilBERT, 6 small LLMs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818120" y="2194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046720" y="164592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1B2335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18388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Shift test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E-PhishLLM, Nazario, Nigerian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2194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921240" y="164592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1B2335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5840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Report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+ 95% CI + USD per 1,000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365760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749040"/>
            <a:ext cx="5166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Leave-one-corpus-out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corpus T, train on the other five and test on all of T. Run twice: raw training data, and with every near duplicate of T removed. The gap is the inflation caused by leaked emails.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99632" y="365760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36792" y="3749040"/>
            <a:ext cx="5166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emails for everyone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300-email subset per test set. Every model, local or paid, is scored on exactly those emails, so the numbers are comparable.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CORE DETAILS (FROM THE NOTEBOOK)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Saimon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exactly we ran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188720"/>
                <a:gridCol w="1097280"/>
                <a:gridCol w="822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spamassassin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train+test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ceas08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train+test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39,091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trec07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train+test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train+test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train+test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29,604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train+test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nazario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nigerian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ephishllm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554480"/>
            <a:ext cx="4965192" cy="1024128"/>
          </a:xfrm>
          <a:prstGeom prst="roundRect">
            <a:avLst>
              <a:gd name="adj" fmla="val 7143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12280" y="1645920"/>
            <a:ext cx="46908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1-2 grams, 50k features, LogReg / Naive Bayes, CPU 0.25 s per 1,000 emails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675120" y="2715768"/>
            <a:ext cx="4965192" cy="1024128"/>
          </a:xfrm>
          <a:prstGeom prst="roundRect">
            <a:avLst>
              <a:gd name="adj" fmla="val 7143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12280" y="2807208"/>
            <a:ext cx="46908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epoch, 256 tokens, batch 16, lr 5e-5, 1,000 emails per corpus, Apple M1 GPU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675120" y="3877056"/>
            <a:ext cx="4965192" cy="1024128"/>
          </a:xfrm>
          <a:prstGeom prst="roundRect">
            <a:avLst>
              <a:gd name="adj" fmla="val 7143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12280" y="3968496"/>
            <a:ext cx="46908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LLMs via OpenRouter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1B/3B/8B, Qwen 7B, Gemma 12B, Phi-4 14B. Temperature 0, 5 output tokens, 1,500 chars. Few-shot: 4 examples from other corpora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675120" y="5038344"/>
            <a:ext cx="4965192" cy="1024128"/>
          </a:xfrm>
          <a:prstGeom prst="roundRect">
            <a:avLst>
              <a:gd name="adj" fmla="val 7143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12280" y="5129784"/>
            <a:ext cx="46908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42 everywhere. 8 GB MacBook. Total API spend $0.41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 · OVERLAP BETWEEN CORPORA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Saimon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check finds almost none of it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SpamAssassin emails that also sit inside the Kaggle set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1783080" cy="1463040"/>
          </a:xfrm>
          <a:prstGeom prst="roundRect">
            <a:avLst>
              <a:gd name="adj" fmla="val 5000"/>
            </a:avLst>
          </a:prstGeom>
          <a:solidFill>
            <a:srgbClr val="1B2335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938528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TEXT</a:t>
            </a:r>
            <a:endParaRPr lang="en-US" sz="1050" dirty="0"/>
          </a:p>
          <a:p>
            <a:pPr indent="0" marL="0">
              <a:buNone/>
            </a:pPr>
            <a:r>
              <a:rPr lang="en-US" sz="34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68880" y="1874520"/>
            <a:ext cx="1783080" cy="1463040"/>
          </a:xfrm>
          <a:prstGeom prst="roundRect">
            <a:avLst>
              <a:gd name="adj" fmla="val 5000"/>
            </a:avLst>
          </a:prstGeom>
          <a:solidFill>
            <a:srgbClr val="1B2335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06040" y="1938528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WHITESPACE</a:t>
            </a:r>
            <a:endParaRPr lang="en-US" sz="1050" dirty="0"/>
          </a:p>
          <a:p>
            <a:pPr indent="0" marL="0">
              <a:buNone/>
            </a:pPr>
            <a:r>
              <a:rPr lang="en-US" sz="3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3,850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66.34%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1874520"/>
            <a:ext cx="1783080" cy="1463040"/>
          </a:xfrm>
          <a:prstGeom prst="roundRect">
            <a:avLst>
              <a:gd name="adj" fmla="val 5000"/>
            </a:avLst>
          </a:prstGeom>
          <a:solidFill>
            <a:srgbClr val="1B2335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938528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DUPLICATE</a:t>
            </a:r>
            <a:endParaRPr lang="en-US" sz="105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5,009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5623560" cy="914400"/>
          </a:xfrm>
          <a:prstGeom prst="roundRect">
            <a:avLst>
              <a:gd name="adj" fmla="val 8000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6118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also holds </a:t>
            </a:r>
            <a:pPr indent="0" marL="0">
              <a:buNone/>
            </a:pPr>
            <a:r>
              <a:rPr lang="en-US" sz="16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pPr indent="0" marL="0">
              <a:buNone/>
            </a:pPr>
            <a:r>
              <a:rPr lang="en-US" sz="16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Ling and </a:t>
            </a:r>
            <a:pPr indent="0" marL="0">
              <a:buNone/>
            </a:pPr>
            <a:r>
              <a:rPr lang="en-US" sz="16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pPr indent="0" marL="0">
              <a:buNone/>
            </a:pPr>
            <a:r>
              <a:rPr lang="en-US" sz="16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Enron. More than half of Kaggle is Enron.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6634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exact matching fails: Kaggle deletes line breaks and glues words ("cream?Isn't"). We verified 400 matches by brute force.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46520" y="1508760"/>
            <a:ext cx="5193792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/Users/sinha/Downloads/uiu/cn/results/final/figures/overlap_heat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1600200"/>
            <a:ext cx="5010912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 · LEAKAGE INFLATES SCORES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Saimon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copies and the good transfer disappears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846320" cy="1417320"/>
          </a:xfrm>
          <a:prstGeom prst="roundRect">
            <a:avLst>
              <a:gd name="adj" fmla="val 5161"/>
            </a:avLst>
          </a:prstGeom>
          <a:solidFill>
            <a:srgbClr val="1B2335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2763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→ SPAMASSASSIN, TF-IDF + LOGREG</a:t>
            </a:r>
            <a:endParaRPr lang="en-US" sz="1050" dirty="0"/>
          </a:p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0.966  →  </a:t>
            </a:r>
            <a:pPr indent="0" marL="0">
              <a:buNone/>
            </a:pPr>
            <a:r>
              <a:rPr lang="en-US" sz="3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0.666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 leaked emails, then after removing them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Held-out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spamassassin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ceas08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trec07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6235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CEAS and TREC share almost nothing with the rest, and their scores do not move. That is the control.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669280" y="1554480"/>
          <a:ext cx="5971032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3 · THE TABLE FROM THE PROPOSAL, FILLED 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Faria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corpora, AI phishing and cost in one place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560320"/>
                <a:gridCol w="1371600"/>
                <a:gridCol w="1554480"/>
                <a:gridCol w="155448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Unseen-corpus F1 (95% CI)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corpus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phishing 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Nazario 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0A5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1,000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Qwen-2.5-7B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 (0.914-0.940)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LogReg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0.901 (0.886-0.916)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Llama-3.2-3B few-shot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0.901 (0.885-0.915)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NB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0.895 (0.879-0.909)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Llama-3.1-8B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 (0.866-0.896)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Llama-3.2-3B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 (0.832-0.868)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Phi-4-14B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0.727 (0.703-0.749)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Llama-3.2-1B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0.623 (0.599-0.645)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scores on the same held-out emails. Trained models use decontaminated data. LLMs never saw any of our data.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4 · WHAT IT MEANS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Faria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robust detectors exist, but not all small LLMs are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1B2335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 7B model wins, for cents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Qwen-2.5-7B reaches 0.928 F1 on unseen corpora and 0.819 on AI phishing, at $0.031 per 1,000 emails.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1B2335"/>
          </a:solidFill>
          <a:ln w="19050">
            <a:solidFill>
              <a:srgbClr val="60A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1546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TF-IDF is still a strong baseline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0.901 on unseen corpora for free, but only 0.640 on AI-written phishing.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5720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1B2335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634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Size is not quality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Phi-4 (14B) skipped the one-word answer in a third of emails. Following the output format matters as much as reasoning.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72200" y="1554480"/>
            <a:ext cx="5468112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0" descr="/Users/sinha/Downloads/uiu/cn/results/final/figures/f1_vs_c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645920"/>
            <a:ext cx="5285232" cy="420624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Faria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study does not show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mixed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corpora count ordinary spam as positive. We keep the published labels and report phishing-only recall separately.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53912" y="155448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91072" y="164592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evaluation sets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emails per test set keeps the cost low. The 95% intervals are about ±0.02 to ±0.03.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15468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training data is unknown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public corpora may be in the LLMs' pre-training data. E-PhishLLM is newer, but we cannot rule it out.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53912" y="306324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91072" y="315468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only, English only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headers, URLs or attachments. The Italian and German part of E-PhishLLM is unused.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6634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DistilBERT training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emails per corpus and one epoch, to fit an 8 GB laptop.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53912" y="457200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91072" y="46634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prompt, one run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prompt search. Providers can change a model behind the same name.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IMPROVEMENTS WITHIN 2 WEEKS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Faria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finish before the final paper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1B2335"/>
          </a:solidFill>
          <a:ln w="19050">
            <a:solidFill>
              <a:srgbClr val="60A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783080"/>
            <a:ext cx="2331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 TO 3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Phishsense-1B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HuggingFace token, run it locally on the same 2,700 emails. It is the model that fell from 97.5% to 70%.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46704" y="164592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1B2335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11296" y="1783080"/>
            <a:ext cx="2331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 TO 6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Phishing-only labels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Relabel spam vs phishing on a sample and rerun, to close the label gap.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44768" y="164592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1B2335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783080"/>
            <a:ext cx="2331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7 TO 9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test sets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emails per set for the top 3 models. Under $0.50 more.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42832" y="164592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1B2335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07424" y="1783080"/>
            <a:ext cx="2331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10 TO 14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+ write-up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and German E-PhishLLM, stronger DistilBERT, final paper.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item reuses the existing scripts. The budget left is well over one dollar.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Faria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public and re-runnable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1B2335"/>
          </a:solidFill>
          <a:ln w="19050">
            <a:solidFill>
              <a:srgbClr val="60A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u="sng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github.com/Jahid15/phishing-llm-cross-corpus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results, paper, research log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99632" y="164592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1B2335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82512" y="17830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 NOTEBOOK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notebooks/phishing_llm_cross_corpus.ipynb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every result in seconds, or re-runs all six steps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1B2335"/>
          </a:solidFill>
          <a:ln w="12700">
            <a:solidFill>
              <a:srgbClr val="1B233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9776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on one dataset is easy. </a:t>
            </a:r>
            <a:pPr algn="ctr" indent="0" marL="0">
              <a:buNone/>
            </a:pPr>
            <a:r>
              <a:rPr lang="en-US" sz="2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evaluation is the hard part.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Questions?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Phishing Email Detection Using LLMs: Final Update</dc:title>
  <dc:subject>PptxGenJS Presentation</dc:subject>
  <dc:creator>PptxGenJS</dc:creator>
  <cp:lastModifiedBy>PptxGenJS</cp:lastModifiedBy>
  <cp:revision>1</cp:revision>
  <dcterms:created xsi:type="dcterms:W3CDTF">2026-09-18T13:37:49Z</dcterms:created>
  <dcterms:modified xsi:type="dcterms:W3CDTF">2026-09-18T13:37:49Z</dcterms:modified>
</cp:coreProperties>
</file>