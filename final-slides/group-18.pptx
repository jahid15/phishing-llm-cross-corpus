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5F7F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F5F7FA"/>
                </a:solidFill>
                <a:latin typeface="Arial"/>
              </a:rPr>
              <a:t>TF-IDF + LogReg, F1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In-corpus (80/20)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spamassassin</c:v>
                  </c:pt>
                  <c:pt idx="1">
                    <c:v>ling</c:v>
                  </c:pt>
                  <c:pt idx="2">
                    <c:v>enron</c:v>
                  </c:pt>
                  <c:pt idx="3">
                    <c:v>kaggle</c:v>
                  </c:pt>
                  <c:pt idx="4">
                    <c:v>ceas08</c:v>
                  </c:pt>
                  <c:pt idx="5">
                    <c:v>trec07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0.966</c:v>
                </c:pt>
                <c:pt idx="1">
                  <c:v>0.93</c:v>
                </c:pt>
                <c:pt idx="2">
                  <c:v>0.981</c:v>
                </c:pt>
                <c:pt idx="3">
                  <c:v>0.965</c:v>
                </c:pt>
                <c:pt idx="4">
                  <c:v>0.986</c:v>
                </c:pt>
                <c:pt idx="5">
                  <c:v>0.985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Unseen, raw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spamassassin</c:v>
                  </c:pt>
                  <c:pt idx="1">
                    <c:v>ling</c:v>
                  </c:pt>
                  <c:pt idx="2">
                    <c:v>enron</c:v>
                  </c:pt>
                  <c:pt idx="3">
                    <c:v>kaggle</c:v>
                  </c:pt>
                  <c:pt idx="4">
                    <c:v>ceas08</c:v>
                  </c:pt>
                  <c:pt idx="5">
                    <c:v>trec07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0.947</c:v>
                </c:pt>
                <c:pt idx="1">
                  <c:v>0.962</c:v>
                </c:pt>
                <c:pt idx="2">
                  <c:v>0.972</c:v>
                </c:pt>
                <c:pt idx="3">
                  <c:v>0.976</c:v>
                </c:pt>
                <c:pt idx="4">
                  <c:v>0.833</c:v>
                </c:pt>
                <c:pt idx="5">
                  <c:v>0.871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Unseen, decontaminated</c:v>
                </c:pt>
              </c:strCache>
            </c:strRef>
          </c:tx>
          <c:spPr>
            <a:solidFill>
              <a:srgbClr val="FF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spamassassin</c:v>
                  </c:pt>
                  <c:pt idx="1">
                    <c:v>ling</c:v>
                  </c:pt>
                  <c:pt idx="2">
                    <c:v>enron</c:v>
                  </c:pt>
                  <c:pt idx="3">
                    <c:v>kaggle</c:v>
                  </c:pt>
                  <c:pt idx="4">
                    <c:v>ceas08</c:v>
                  </c:pt>
                  <c:pt idx="5">
                    <c:v>trec07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0.847</c:v>
                </c:pt>
                <c:pt idx="1">
                  <c:v>0.847</c:v>
                </c:pt>
                <c:pt idx="2">
                  <c:v>0.919</c:v>
                </c:pt>
                <c:pt idx="3">
                  <c:v>0.928</c:v>
                </c:pt>
                <c:pt idx="4">
                  <c:v>0.832</c:v>
                </c:pt>
                <c:pt idx="5">
                  <c:v>0.871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5F7F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2A344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4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5F7F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sec. Names and title. Say: in the proposal we promised a table that did not exist. Today we show it filled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Walk the timeline in one breath. Then the three changes, be open about the old numbers. Land on the question in the blue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Do not read every row. Say: five of six fully done, one mostly, and say why Phishsense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sec. Point at steps 2 and 3, those are ours. Explain raw vs clean in one sentence. Then hand over to Saimon.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sec. This is the notebook slide. Mention: all numbers on later slides are produced by these scripts, the notebook re-creates every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sec. Say the three numbers slowly: two, three thousand eight hundred, five thousand. The exact check is what most people would run and it finds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sec. Kaggle to SpamAssassin was the suspicious 0.97 from July. Now it is measured. Point at CEAS and TREC: no overlap, no change. Hand over to Faria.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Read the highlighted Qwen row, then Gemma (best on AI phishing, but 25% false alarms), then DistilBERT (best in-corpus, worst on AI phishing). Point at the cost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sec. Four points, one sentence each. Spend the time on 2 and 3. Mention Phi-4 only if asked: it ignored the one-word format in a third of emails.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 sec. Say the first three clearly. The teacher will ask about LLM pre-training contamination, so name it before they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sec. Four blocks, left to right. Stress that each one is small because the pipeline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sec. Read the links, then the closing line slowly, then stop.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ahid15/phishing-llm-cross-corpus" TargetMode="External"/><Relationship Id="rId2" Type="http://schemas.openxmlformats.org/officeDocument/2006/relationships/hyperlink" Target="https://colab.research.google.com/github/Jahid15/phishing-llm-cross-corpus/blob/main/notebooks/phishing_llm_cross_corpus.ipynb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SECURITY · FINAL UPDATE · PROJECT FORUM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 Detection Using Large Language Models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leakage-aware, cross-corpus and cost-aware benchmark of small open LLMs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Jahid Ibna Sinha (011221376)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Jakaria Alam Saimon (011221002)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Nowshin Anjum Faria (011221372)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4937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International University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suspicion to a measured result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papers, all 97 to 99%. Every one tests inside one dataset. None reports cost.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6459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run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one corpus, test on another: F1 0.99 fell to 0.30.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55448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66360" y="16459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AUG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check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already contains two thirds of SpamAssassin.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69480" y="155448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6459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talk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objectives, one table to fill.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509760" y="155448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1B2335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46920" y="164592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SEP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experiments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sources, 9 models, 164,871 emails checked for overlap.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the proposal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931920"/>
            <a:ext cx="3319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found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E-PhishGen (AISec 2025) already tested classical models across corpora. Our claim is now leakage removal plus cost, and we cite them.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279392" y="384048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16552" y="3931920"/>
            <a:ext cx="3319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Nazario is test-only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 became a full corpus, so pairing Nazario with Enron mail would leak. Nazario now measures phishing recall only.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10144" y="3840480"/>
            <a:ext cx="3593592" cy="1325880"/>
          </a:xfrm>
          <a:prstGeom prst="roundRect">
            <a:avLst>
              <a:gd name="adj" fmla="val 5517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47304" y="3931920"/>
            <a:ext cx="3319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rebuilt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74.4% / 4,282 / 48 on our proposal slides came from an unsaved run. Every number today comes from code in the repo.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B2335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486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remove leaked emails and always test on a corpus the model has never seen, how good are cheap detectors, and what do they cost?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objectives from the proposal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743200"/>
                <a:gridCol w="658368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delivered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Decontaminated benchmark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sources, overlap measured at 3 levels, near duplicates removed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Leave-one-corpus-out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folds, each run with raw and cleaned training 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protocol, all families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classical, DistilBERT, 6 small LLMs, 2 few-shot. Phishsense-1B not run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in dollars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cost of every one of 19,200 LLM calls, from OpenRouter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AI-written phishing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E-PhishLLM (GPT-4o-mini emails) as a held-out shift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honest table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on unseen corpora with 95% bootstrap intervals, next to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Phishsense-1B needs a HuggingFace access token. It is the first item for the next two weeks.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one script each, all on a laptop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1B2335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Collect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public sources, subject + body, 10k cap per corpus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23160" y="164592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1B2335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Overlap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normalized, MinHash near duplicate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1B2335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3484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Decontaminate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5 corpora, drop copies of the 6th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1B2335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TF-IDF, DistilBERT, 6 small LLMs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046720" y="164592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1B2335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8388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Shift test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E-PhishLLM, Nazario, Nigerian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21240" y="1645920"/>
            <a:ext cx="1645920" cy="1554480"/>
          </a:xfrm>
          <a:prstGeom prst="roundRect">
            <a:avLst>
              <a:gd name="adj" fmla="val 4706"/>
            </a:avLst>
          </a:prstGeom>
          <a:solidFill>
            <a:srgbClr val="1B2335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0" y="1737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+ 95% CI + USD per 1,000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74904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Leave-one-corpus-out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corpus T, train on the other five and test on all of T. Run twice: raw training data, and with every near duplicate of T removed. The gap is the inflation caused by leaked emails.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199632" y="365760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36792" y="3749040"/>
            <a:ext cx="5166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emails for everyone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300-email subset per test set. Every model, local or paid, is scored on exactly those emails, so the numbers are comparable.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CORE DETAILS (FROM THE NOTEBOOK)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Saimon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we ran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188720"/>
                <a:gridCol w="1097280"/>
                <a:gridCol w="822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spamassassin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train+test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ceas08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train+test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39,091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train+test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53,638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train+test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2,858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train+test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29,604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train+test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17,505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nazario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nigerian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ephishllm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11,502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554480"/>
            <a:ext cx="4965192" cy="1024128"/>
          </a:xfrm>
          <a:prstGeom prst="roundRect">
            <a:avLst>
              <a:gd name="adj" fmla="val 714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12280" y="1645920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1-2 grams, 50k features, LogReg / Naive Bayes, CPU 0.25 s per 1,000 emails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675120" y="2715768"/>
            <a:ext cx="4965192" cy="1024128"/>
          </a:xfrm>
          <a:prstGeom prst="roundRect">
            <a:avLst>
              <a:gd name="adj" fmla="val 714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12280" y="2807208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epoch, 128 tokens, batch 16, lr 5e-5, 1,000 emails per corpus, laptop CPU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75120" y="3877056"/>
            <a:ext cx="4965192" cy="1024128"/>
          </a:xfrm>
          <a:prstGeom prst="roundRect">
            <a:avLst>
              <a:gd name="adj" fmla="val 714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12280" y="3968496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LLMs via OpenRouter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1B/3B/8B, Qwen 7B, Gemma 12B, Phi-4 14B. Temperature 0, 5 output tokens, 1,500 chars. Few-shot: 4 examples from other corpora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75120" y="5038344"/>
            <a:ext cx="4965192" cy="1024128"/>
          </a:xfrm>
          <a:prstGeom prst="roundRect">
            <a:avLst>
              <a:gd name="adj" fmla="val 714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12280" y="5129784"/>
            <a:ext cx="46908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everywhere. 8 GB MacBook. Total API spend $0.52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· OVERLAP BETWEEN CORPORA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Saimon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check finds almost none of it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 emails that also sit inside the Kaggle 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1B2335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38528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TEXT</a:t>
            </a:r>
            <a:endParaRPr lang="en-US" sz="105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0.03%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18745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1B2335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938528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WHITESPACE</a:t>
            </a:r>
            <a:endParaRPr lang="en-US" sz="1050" dirty="0"/>
          </a:p>
          <a:p>
            <a:pPr indent="0" marL="0">
              <a:buNone/>
            </a:pPr>
            <a:r>
              <a:rPr lang="en-US" sz="3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3,850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66.34%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874520"/>
            <a:ext cx="1783080" cy="1463040"/>
          </a:xfrm>
          <a:prstGeom prst="roundRect">
            <a:avLst>
              <a:gd name="adj" fmla="val 5000"/>
            </a:avLst>
          </a:prstGeom>
          <a:solidFill>
            <a:srgbClr val="1B2335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938528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DUPLICATE</a:t>
            </a:r>
            <a:endParaRPr lang="en-US" sz="105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5,009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86.32%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623560" cy="914400"/>
          </a:xfrm>
          <a:prstGeom prst="roundRect">
            <a:avLst>
              <a:gd name="adj" fmla="val 8000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6118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also holds </a:t>
            </a:r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Ling and </a:t>
            </a:r>
            <a:pPr indent="0" marL="0">
              <a:buNone/>
            </a:pPr>
            <a:r>
              <a:rPr lang="en-US" sz="16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Enron. More than half of Kaggle is Enron.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6634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exact matching fails: Kaggle deletes line breaks and glues words ("cream?Isn't"). We checked 400 of them by brute force: the matches are real.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1508760"/>
            <a:ext cx="519379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0" descr="/Users/sinha/Downloads/uiu/cn/results/final/figures/overlap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600200"/>
            <a:ext cx="5010912" cy="43434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· LEAKAGE INFLATES SCORES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Saimon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copies and the good transfer disappears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1B2335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2763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→ SPAMASSASSIN, TF-IDF + LOGREG</a:t>
            </a:r>
            <a:endParaRPr lang="en-US" sz="1050" dirty="0"/>
          </a:p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0.966  →  </a:t>
            </a:r>
            <a:pPr indent="0" marL="0">
              <a:buNone/>
            </a:pPr>
            <a:r>
              <a:rPr lang="en-US" sz="3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0.666</a:t>
            </a:r>
            <a:endParaRPr lang="en-US" sz="105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with leaked emails, then after removing them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48463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22960"/>
                <a:gridCol w="822960"/>
                <a:gridCol w="731520"/>
                <a:gridCol w="10972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spamassassin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ceas08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trec07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6235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CEAS and TREC share almost nothing with the rest, and their scores do not move. That is the control.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669280" y="1554480"/>
          <a:ext cx="5971032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 · THE TABLE FROM THE PROPOSAL, FILLED 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corpora, AI phishing and cost in one place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188720"/>
                <a:gridCol w="1188720"/>
                <a:gridCol w="1371600"/>
                <a:gridCol w="1371600"/>
                <a:gridCol w="11887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Unseen-corpus F1 (95% CI)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corpus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phishing 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Nazario 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/ 1,000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Qwen-2.5-7B few-shot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0.937 (0.925-0.948)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Qwen-2.5-7B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 (0.915-0.940)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6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LogReg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 (0.886-0.916)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Llama-3.2-3B few-shot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 (0.885-0.915)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NB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 (0.879-0.909)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 (0.875-0.906)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Gemma-3-12B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0.882 (0.866-0.896)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Llama-3.1-8B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0.881 (0.865-0.896)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Llama-3.2-3B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 (0.832-0.868)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Phi-4-14B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0.727 (0.702-0.749)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Llama-3.2-1B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 (0.597-0.647)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4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scores on the same held-out emails. Trained models use decontaminated data. LLMs never saw any of our data. False alarms = share of legitimate mail flagged.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4 · WHAT IT MEANS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winner: pick the trade-off you can live with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1B2335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Best balance: Qwen-2.5-7B zero-shot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 F1 on unseen corpora, 3% false alarms, 0.819 on AI phishing, $0.031 per 1,000 emails.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1B2335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74320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Gemma-3-12B catches more, flags more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0.955 on AI phishing, but 25% of legitimate mail flagged. Good for review queues, not for blocking.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1B2335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88620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Few-shot helps old mail, hurts AI phishing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on AI phishing: 0.819 to 0.598 with 4 old examples. They anchor it to old spam.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5394960" cy="1024128"/>
          </a:xfrm>
          <a:prstGeom prst="roundRect">
            <a:avLst>
              <a:gd name="adj" fmla="val 7143"/>
            </a:avLst>
          </a:prstGeom>
          <a:solidFill>
            <a:srgbClr val="1B2335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5029200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The usual metric picks the wrong model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DistilBERT: best in-corpus F1 (0.975), weakest trained model on AI phishing (0.493).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508760"/>
            <a:ext cx="546811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0" descr="/Users/sinha/Downloads/uiu/cn/results/final/figures/f1_vs_c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600200"/>
            <a:ext cx="5285232" cy="42519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does not show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mixed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corpora count ordinary spam as positive. We keep the published labels and report phishing-only recall separately.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53912" y="1554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91072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evaluation sets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emails per test set keeps the cost low. The 95% intervals are about ±0.01 to ±0.03.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training data is unknown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public corpora may be in the LLMs' pre-training data. E-PhishLLM is newer, but we cannot rule it out.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53912" y="306324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1072" y="31546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only, English only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headers, URLs or attachments. The Italian and German part of E-PhishLLM is unused.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6634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DistilBERT training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emails per corpus and one epoch, to fit an 8 GB laptop.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53912" y="457200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1072" y="46634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prompt, one run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prompt search. Providers can change a model behind the same name.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IMPROVEMENTS WITHIN 2 WEEKS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finish before the final paper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B2335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8308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 TO 3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Phishsense-1B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HuggingFace token, run it locally on the same 2,400 emails. It is the model that fell from 97.5% to 70%.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46704" y="16459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B2335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11296" y="178308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 TO 6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Phishing-only labels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Relabel spam vs phishing on a sample and rerun, to close the label gap.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44768" y="16459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B2335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78308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 TO 9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test sets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emails per set for the top 3 models. Under $0.50 more.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42832" y="16459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B2335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07424" y="1783080"/>
            <a:ext cx="2331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10 TO 14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+ write-up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and German E-PhishLLM, stronger DistilBERT, final paper.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reuses the existing scripts. The budget left is well over one dollar.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978408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public and re-runnable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1B2335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u="sng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github.com/Jahid15/phishing-llm-cross-corpus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results, paper, research log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99632" y="164592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1B2335"/>
          </a:solidFill>
          <a:ln w="19050">
            <a:solidFill>
              <a:srgbClr val="FF6B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u="sng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notebooks/phishing_llm_cross_corpus.ipynb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every result in seconds, or re-runs all six steps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1B2335"/>
          </a:solidFill>
          <a:ln w="12700">
            <a:solidFill>
              <a:srgbClr val="1B23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97764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on one dataset is easy. </a:t>
            </a:r>
            <a:pPr algn="ctr" indent="0" marL="0">
              <a:buNone/>
            </a:pPr>
            <a:r>
              <a:rPr lang="en-US" sz="24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 is the hard part.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 Questions?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Email Detection Using LLMs: Final Update</dc:title>
  <dc:subject>PptxGenJS Presentation</dc:subject>
  <dc:creator>PptxGenJS</dc:creator>
  <cp:lastModifiedBy>PptxGenJS</cp:lastModifiedBy>
  <cp:revision>1</cp:revision>
  <dcterms:created xsi:type="dcterms:W3CDTF">2026-09-18T16:06:29Z</dcterms:created>
  <dcterms:modified xsi:type="dcterms:W3CDTF">2026-09-18T16:06:29Z</dcterms:modified>
</cp:coreProperties>
</file>